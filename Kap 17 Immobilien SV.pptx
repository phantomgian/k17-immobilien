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</p:sldMasterIdLst>
  <p:notesMasterIdLst>
    <p:notesMasterId r:id="rId19"/>
  </p:notesMasterIdLst>
  <p:sldIdLst>
    <p:sldId id="429" r:id="rId2"/>
    <p:sldId id="430" r:id="rId3"/>
    <p:sldId id="1076" r:id="rId4"/>
    <p:sldId id="1101" r:id="rId5"/>
    <p:sldId id="1102" r:id="rId6"/>
    <p:sldId id="1103" r:id="rId7"/>
    <p:sldId id="1104" r:id="rId8"/>
    <p:sldId id="1109" r:id="rId9"/>
    <p:sldId id="1106" r:id="rId10"/>
    <p:sldId id="1111" r:id="rId11"/>
    <p:sldId id="1112" r:id="rId12"/>
    <p:sldId id="1113" r:id="rId13"/>
    <p:sldId id="1115" r:id="rId14"/>
    <p:sldId id="1099" r:id="rId15"/>
    <p:sldId id="1093" r:id="rId16"/>
    <p:sldId id="1097" r:id="rId17"/>
    <p:sldId id="1011" r:id="rId1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8EA"/>
    <a:srgbClr val="E24014"/>
    <a:srgbClr val="4D1434"/>
    <a:srgbClr val="D0CCCD"/>
    <a:srgbClr val="C13711"/>
    <a:srgbClr val="D73D13"/>
    <a:srgbClr val="000000"/>
    <a:srgbClr val="ED5B33"/>
    <a:srgbClr val="CBDFF1"/>
    <a:srgbClr val="E7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63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BA969-72A5-458A-9821-65B3413DF062}" type="datetimeFigureOut">
              <a:rPr lang="en-CH" smtClean="0"/>
              <a:t>09/07/2026</a:t>
            </a:fld>
            <a:endParaRPr lang="en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DB572-0119-4A9B-BADD-B143A70FBAD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3336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HS 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1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 dirty="0"/>
              <a:t>HS 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3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2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9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8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9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400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Rectangle 1119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65796A-7EB8-45C6-B261-1EC88B8FB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pPr algn="ctr"/>
            <a:br>
              <a:rPr lang="de-CH" noProof="0" dirty="0">
                <a:solidFill>
                  <a:srgbClr val="FFFFFF"/>
                </a:solidFill>
              </a:rPr>
            </a:br>
            <a:r>
              <a:rPr lang="de-CH" noProof="0" dirty="0">
                <a:solidFill>
                  <a:srgbClr val="FFFFFF"/>
                </a:solidFill>
              </a:rPr>
              <a:t>Kapitel 17</a:t>
            </a:r>
            <a:br>
              <a:rPr lang="de-CH" noProof="0" dirty="0">
                <a:solidFill>
                  <a:srgbClr val="FFFFFF"/>
                </a:solidFill>
              </a:rPr>
            </a:br>
            <a:br>
              <a:rPr lang="de-CH" noProof="0" dirty="0">
                <a:solidFill>
                  <a:srgbClr val="FFFFFF"/>
                </a:solidFill>
              </a:rPr>
            </a:br>
            <a:r>
              <a:rPr lang="de-DE" noProof="0" dirty="0">
                <a:solidFill>
                  <a:srgbClr val="FFFFFF"/>
                </a:solidFill>
              </a:rPr>
              <a:t>Immobilien</a:t>
            </a:r>
            <a:endParaRPr lang="de-CH" noProof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01A3C5-6376-45DA-8499-CE997FCF9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b">
            <a:normAutofit/>
          </a:bodyPr>
          <a:lstStyle/>
          <a:p>
            <a:r>
              <a:rPr lang="de-CH" sz="2000" noProof="0">
                <a:solidFill>
                  <a:schemeClr val="accent1">
                    <a:lumMod val="75000"/>
                    <a:lumOff val="25000"/>
                  </a:schemeClr>
                </a:solidFill>
              </a:rPr>
              <a:t>FRW – </a:t>
            </a:r>
            <a:fld id="{9ABE7964-9C85-4227-8884-E66D12BE292D}" type="datetime1">
              <a:rPr lang="de-CH" sz="2000" noProof="0">
                <a:solidFill>
                  <a:schemeClr val="accent1">
                    <a:lumMod val="75000"/>
                    <a:lumOff val="25000"/>
                  </a:schemeClr>
                </a:solidFill>
              </a:rPr>
              <a:pPr/>
              <a:t>07.09.2026</a:t>
            </a:fld>
            <a:endParaRPr lang="de-CH" sz="2000" noProof="0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9AD9F5-69D1-2C57-64AB-C8A697F1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94" r="-2" b="-2"/>
          <a:stretch>
            <a:fillRect/>
          </a:stretch>
        </p:blipFill>
        <p:spPr>
          <a:xfrm>
            <a:off x="4654295" y="457200"/>
            <a:ext cx="7086151" cy="589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5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307F0-3F46-4766-85E5-8750BF52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 fontScale="90000"/>
          </a:bodyPr>
          <a:lstStyle/>
          <a:p>
            <a:pPr algn="ctr"/>
            <a:r>
              <a:rPr lang="de-CH" sz="4400" noProof="0" dirty="0"/>
              <a:t>Lernziele Kap 17</a:t>
            </a:r>
            <a:br>
              <a:rPr lang="de-CH" sz="4400" noProof="0" dirty="0"/>
            </a:br>
            <a:r>
              <a:rPr lang="de-CH" sz="4400" b="1" dirty="0"/>
              <a:t>Prüfung 30.10. (Fr.) mit Kap 16</a:t>
            </a:r>
            <a:endParaRPr lang="de-CH" sz="2200" noProof="0" dirty="0"/>
          </a:p>
        </p:txBody>
      </p:sp>
      <p:sp>
        <p:nvSpPr>
          <p:cNvPr id="4" name="Datumsplatzhalter 1">
            <a:extLst>
              <a:ext uri="{FF2B5EF4-FFF2-40B4-BE49-F238E27FC236}">
                <a16:creationId xmlns:a16="http://schemas.microsoft.com/office/drawing/2014/main" id="{D88C907F-7B64-EC6D-775B-EC0B42F3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70470D3E-FFDE-4C2A-EC56-6EBA4833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281596D5-D968-AAAB-5D61-46CA47AD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CCF8B1-14BA-4761-BEE0-236358DDDAE0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8D2CF-B132-11F2-9AC4-306AA60F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552" y="2275180"/>
            <a:ext cx="4148295" cy="304704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de-DE" b="1" dirty="0"/>
              <a:t>Buchen Immobilien</a:t>
            </a:r>
            <a:endParaRPr lang="de-CH" b="1" dirty="0"/>
          </a:p>
          <a:p>
            <a:r>
              <a:rPr lang="de-DE" dirty="0"/>
              <a:t>Kauf &amp; Verkauf (inkl. Gewinn)</a:t>
            </a:r>
          </a:p>
          <a:p>
            <a:r>
              <a:rPr lang="de-DE" dirty="0"/>
              <a:t>Änderung Hypothek &amp; -zins</a:t>
            </a:r>
          </a:p>
          <a:p>
            <a:r>
              <a:rPr lang="de-DE" dirty="0"/>
              <a:t>Abschreibungen</a:t>
            </a:r>
          </a:p>
          <a:p>
            <a:r>
              <a:rPr lang="de-DE" dirty="0"/>
              <a:t>Unterhalt</a:t>
            </a:r>
          </a:p>
          <a:p>
            <a:r>
              <a:rPr lang="de-DE" dirty="0"/>
              <a:t>Investitionen (wertvermehrend)</a:t>
            </a:r>
          </a:p>
          <a:p>
            <a:r>
              <a:rPr lang="de-DE" dirty="0"/>
              <a:t>Eigen- &amp; Fremdmiete</a:t>
            </a:r>
          </a:p>
          <a:p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70199C-A7B1-862A-054E-5EC9584C87B4}"/>
              </a:ext>
            </a:extLst>
          </p:cNvPr>
          <p:cNvSpPr txBox="1">
            <a:spLocks/>
          </p:cNvSpPr>
          <p:nvPr/>
        </p:nvSpPr>
        <p:spPr>
          <a:xfrm>
            <a:off x="4624395" y="2275180"/>
            <a:ext cx="7230917" cy="27859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Rendite Berechnung &amp; Interpretation Immobilien</a:t>
            </a:r>
            <a:endParaRPr lang="de-CH" dirty="0"/>
          </a:p>
          <a:p>
            <a:r>
              <a:rPr lang="de-DE" dirty="0"/>
              <a:t>Brutto-Rendite</a:t>
            </a:r>
          </a:p>
          <a:p>
            <a:r>
              <a:rPr lang="de-DE" dirty="0"/>
              <a:t>Netto-Rendite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9898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5943-85E9-2C11-EEB2-093136A3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C050D621-BC78-E471-F5BA-2C4E7499979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Konten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7017F3-62E5-09AC-26F1-34EF85B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F767A1-8AD9-A552-7B71-9EA27AE5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0E102552-EC4D-227D-D792-C679BC89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03D6460-504A-23BE-54D8-C1EA0FD48A02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dirty="0"/>
              <a:t>Bilanzkonten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C096876-69ED-0CCD-21A1-3CA5D12F7A6A}"/>
              </a:ext>
            </a:extLst>
          </p:cNvPr>
          <p:cNvSpPr txBox="1"/>
          <p:nvPr/>
        </p:nvSpPr>
        <p:spPr>
          <a:xfrm>
            <a:off x="399821" y="1048497"/>
            <a:ext cx="114342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Das beide Gebäude hat die Kleider AG für CHF 4 Mio. gekauft, seither wurden CHF 500‘000 indirekt abgeschrieben.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Sie hat im EG ihre Boutique, im 1. Stock sind die Büroräumlichkeiten. Die anderen Wohnungen sind vermietet. Im Grundbuch steht, dass eine Hypothek von CHF 2.6 Mio. darauf lastet.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845A796-992E-E517-1E6D-A3B76397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81" y="2089782"/>
            <a:ext cx="3676677" cy="3448075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F34775D-1EE0-28E0-C2CA-00ECFBAE71A0}"/>
              </a:ext>
            </a:extLst>
          </p:cNvPr>
          <p:cNvSpPr/>
          <p:nvPr/>
        </p:nvSpPr>
        <p:spPr>
          <a:xfrm>
            <a:off x="6183610" y="4607740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Boutique</a:t>
            </a:r>
            <a:endParaRPr lang="de-CH" dirty="0"/>
          </a:p>
        </p:txBody>
      </p:sp>
      <p:sp>
        <p:nvSpPr>
          <p:cNvPr id="16" name="Pfeil: nach links 15">
            <a:extLst>
              <a:ext uri="{FF2B5EF4-FFF2-40B4-BE49-F238E27FC236}">
                <a16:creationId xmlns:a16="http://schemas.microsoft.com/office/drawing/2014/main" id="{9E1063D6-937F-D030-4E8A-0A7B598A9A25}"/>
              </a:ext>
            </a:extLst>
          </p:cNvPr>
          <p:cNvSpPr/>
          <p:nvPr/>
        </p:nvSpPr>
        <p:spPr>
          <a:xfrm>
            <a:off x="10366842" y="3715086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Büro</a:t>
            </a:r>
            <a:endParaRPr lang="de-CH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8906FCE7-75D7-408A-F2DC-5352B94D5BDA}"/>
              </a:ext>
            </a:extLst>
          </p:cNvPr>
          <p:cNvSpPr/>
          <p:nvPr/>
        </p:nvSpPr>
        <p:spPr>
          <a:xfrm>
            <a:off x="6250181" y="3242533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5985B36F-5376-60C1-A84C-FF27F2481677}"/>
              </a:ext>
            </a:extLst>
          </p:cNvPr>
          <p:cNvSpPr/>
          <p:nvPr/>
        </p:nvSpPr>
        <p:spPr>
          <a:xfrm>
            <a:off x="10366842" y="4607740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7E1FC3D2-7AA4-EB6E-1287-9E3860F2DD7B}"/>
              </a:ext>
            </a:extLst>
          </p:cNvPr>
          <p:cNvSpPr/>
          <p:nvPr/>
        </p:nvSpPr>
        <p:spPr>
          <a:xfrm>
            <a:off x="10366842" y="2843125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7550EC9-BCF2-04FE-423C-33D163869E1D}"/>
              </a:ext>
            </a:extLst>
          </p:cNvPr>
          <p:cNvSpPr txBox="1"/>
          <p:nvPr/>
        </p:nvSpPr>
        <p:spPr>
          <a:xfrm>
            <a:off x="399821" y="2232637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 finden wir das Gebäude in der Bilanz?</a:t>
            </a:r>
          </a:p>
        </p:txBody>
      </p:sp>
      <p:graphicFrame>
        <p:nvGraphicFramePr>
          <p:cNvPr id="41" name="Tabelle 40">
            <a:extLst>
              <a:ext uri="{FF2B5EF4-FFF2-40B4-BE49-F238E27FC236}">
                <a16:creationId xmlns:a16="http://schemas.microsoft.com/office/drawing/2014/main" id="{A5F20850-E170-7715-E0B9-970806F3F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26945"/>
              </p:ext>
            </p:extLst>
          </p:nvPr>
        </p:nvGraphicFramePr>
        <p:xfrm>
          <a:off x="538617" y="2719924"/>
          <a:ext cx="548472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264">
                  <a:extLst>
                    <a:ext uri="{9D8B030D-6E8A-4147-A177-3AD203B41FA5}">
                      <a16:colId xmlns:a16="http://schemas.microsoft.com/office/drawing/2014/main" val="2591055819"/>
                    </a:ext>
                  </a:extLst>
                </a:gridCol>
                <a:gridCol w="1271518">
                  <a:extLst>
                    <a:ext uri="{9D8B030D-6E8A-4147-A177-3AD203B41FA5}">
                      <a16:colId xmlns:a16="http://schemas.microsoft.com/office/drawing/2014/main" val="3749794413"/>
                    </a:ext>
                  </a:extLst>
                </a:gridCol>
                <a:gridCol w="1427891">
                  <a:extLst>
                    <a:ext uri="{9D8B030D-6E8A-4147-A177-3AD203B41FA5}">
                      <a16:colId xmlns:a16="http://schemas.microsoft.com/office/drawing/2014/main" val="1288338328"/>
                    </a:ext>
                  </a:extLst>
                </a:gridCol>
                <a:gridCol w="1201054">
                  <a:extLst>
                    <a:ext uri="{9D8B030D-6E8A-4147-A177-3AD203B41FA5}">
                      <a16:colId xmlns:a16="http://schemas.microsoft.com/office/drawing/2014/main" val="304274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Aktiven</a:t>
                      </a:r>
                      <a:endParaRPr lang="de-CH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Bilanz</a:t>
                      </a:r>
                      <a:endParaRPr lang="de-CH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Passiven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3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UV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Kfr. FK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69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...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...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643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AV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Lfr. FK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16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Immobilien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4‘000‘000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Hypothek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2‘600‘000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78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./. WB Immo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-  500‘000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EK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5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202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78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01C-8429-EFD0-2AD5-9583E2C0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1A59C6DC-94A6-B876-7C46-3CA41F2F0D60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Konten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052F96-C0FA-1EB2-F92C-47A23424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629355-4EBD-1B39-FA17-9C0D1C2F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43B5C463-1B5E-2F6A-66A1-DE184E6B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19834A2-7D32-F47A-77CD-58B797DD1557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noProof="0" dirty="0"/>
              <a:t>Bilanzkonten – Immobilien &amp; Hypothek</a:t>
            </a:r>
            <a:endParaRPr lang="de-CH" noProof="0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EE95702-42A2-3A10-A7DA-BB2C4BEE4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852315"/>
              </p:ext>
            </p:extLst>
          </p:nvPr>
        </p:nvGraphicFramePr>
        <p:xfrm>
          <a:off x="236454" y="1272559"/>
          <a:ext cx="573372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864">
                  <a:extLst>
                    <a:ext uri="{9D8B030D-6E8A-4147-A177-3AD203B41FA5}">
                      <a16:colId xmlns:a16="http://schemas.microsoft.com/office/drawing/2014/main" val="3386306783"/>
                    </a:ext>
                  </a:extLst>
                </a:gridCol>
                <a:gridCol w="2866864">
                  <a:extLst>
                    <a:ext uri="{9D8B030D-6E8A-4147-A177-3AD203B41FA5}">
                      <a16:colId xmlns:a16="http://schemas.microsoft.com/office/drawing/2014/main" val="37257593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CH" noProof="0" dirty="0"/>
                        <a:t>+                                      Immobilien                                       -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6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noProof="0" dirty="0"/>
                        <a:t>Anfangsbestand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1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61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1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5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noProof="0" dirty="0"/>
                        <a:t>Saldo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790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4D510A4A-C5FF-0E32-7C8C-67E1D7A14B6F}"/>
              </a:ext>
            </a:extLst>
          </p:cNvPr>
          <p:cNvSpPr txBox="1"/>
          <p:nvPr/>
        </p:nvSpPr>
        <p:spPr>
          <a:xfrm>
            <a:off x="252401" y="2388412"/>
            <a:ext cx="2815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Handänderungskosten (Kauf)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50E8D05-4BFF-AC70-8E29-C9222234E45A}"/>
              </a:ext>
            </a:extLst>
          </p:cNvPr>
          <p:cNvSpPr txBox="1"/>
          <p:nvPr/>
        </p:nvSpPr>
        <p:spPr>
          <a:xfrm>
            <a:off x="236454" y="2019397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noProof="0" dirty="0"/>
              <a:t>Neukäufe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9A3DC87-5394-8D82-BF15-307589F8D010}"/>
              </a:ext>
            </a:extLst>
          </p:cNvPr>
          <p:cNvSpPr txBox="1"/>
          <p:nvPr/>
        </p:nvSpPr>
        <p:spPr>
          <a:xfrm>
            <a:off x="3110021" y="2020609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Verkäufe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6C7228E-60AF-4677-8F2A-E760DD3AB5CC}"/>
              </a:ext>
            </a:extLst>
          </p:cNvPr>
          <p:cNvSpPr txBox="1"/>
          <p:nvPr/>
        </p:nvSpPr>
        <p:spPr>
          <a:xfrm>
            <a:off x="244553" y="3056314"/>
            <a:ext cx="30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Wertsteigernde Investitionen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80F7026-4107-A203-412E-D5FA891CBF71}"/>
              </a:ext>
            </a:extLst>
          </p:cNvPr>
          <p:cNvSpPr txBox="1"/>
          <p:nvPr/>
        </p:nvSpPr>
        <p:spPr>
          <a:xfrm>
            <a:off x="3094073" y="3056313"/>
            <a:ext cx="309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Wertverminderungen*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B2E0454-7645-0D58-87FE-2D04C9718B99}"/>
              </a:ext>
            </a:extLst>
          </p:cNvPr>
          <p:cNvSpPr txBox="1"/>
          <p:nvPr/>
        </p:nvSpPr>
        <p:spPr>
          <a:xfrm>
            <a:off x="252401" y="3419657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Veräusserungsgewinn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4789687-EA05-F911-1480-2ABC803D61B7}"/>
              </a:ext>
            </a:extLst>
          </p:cNvPr>
          <p:cNvSpPr txBox="1"/>
          <p:nvPr/>
        </p:nvSpPr>
        <p:spPr>
          <a:xfrm>
            <a:off x="3103318" y="3441019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Veräusserungsverlust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AD61098-A4EC-C397-5A4C-E41905F69683}"/>
              </a:ext>
            </a:extLst>
          </p:cNvPr>
          <p:cNvSpPr txBox="1"/>
          <p:nvPr/>
        </p:nvSpPr>
        <p:spPr>
          <a:xfrm>
            <a:off x="552897" y="4602240"/>
            <a:ext cx="30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Wertverminderungen* </a:t>
            </a:r>
            <a:r>
              <a:rPr lang="de-CH" sz="1800" noProof="0" dirty="0">
                <a:sym typeface="Wingdings" panose="05000000000000000000" pitchFamily="2" charset="2"/>
              </a:rPr>
              <a:t> indirekt über WB Immobilien</a:t>
            </a:r>
            <a:endParaRPr lang="de-CH" sz="1800" noProof="0" dirty="0"/>
          </a:p>
        </p:txBody>
      </p:sp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39E5C8D8-4B2B-6C7A-691E-2A3065FCA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734284"/>
              </p:ext>
            </p:extLst>
          </p:nvPr>
        </p:nvGraphicFramePr>
        <p:xfrm>
          <a:off x="6217505" y="1235682"/>
          <a:ext cx="573372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864">
                  <a:extLst>
                    <a:ext uri="{9D8B030D-6E8A-4147-A177-3AD203B41FA5}">
                      <a16:colId xmlns:a16="http://schemas.microsoft.com/office/drawing/2014/main" val="3386306783"/>
                    </a:ext>
                  </a:extLst>
                </a:gridCol>
                <a:gridCol w="2866864">
                  <a:extLst>
                    <a:ext uri="{9D8B030D-6E8A-4147-A177-3AD203B41FA5}">
                      <a16:colId xmlns:a16="http://schemas.microsoft.com/office/drawing/2014/main" val="37257593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CH" noProof="0" dirty="0"/>
                        <a:t>-                                       Hypothek                                       +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6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noProof="0" dirty="0"/>
                        <a:t>Anfangsbestand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1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61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1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5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noProof="0" dirty="0"/>
                        <a:t>Saldo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790"/>
                  </a:ext>
                </a:extLst>
              </a:tr>
            </a:tbl>
          </a:graphicData>
        </a:graphic>
      </p:graphicFrame>
      <p:sp>
        <p:nvSpPr>
          <p:cNvPr id="27" name="Textfeld 26">
            <a:extLst>
              <a:ext uri="{FF2B5EF4-FFF2-40B4-BE49-F238E27FC236}">
                <a16:creationId xmlns:a16="http://schemas.microsoft.com/office/drawing/2014/main" id="{F08769B6-7F26-801E-6E00-137DE42F7B45}"/>
              </a:ext>
            </a:extLst>
          </p:cNvPr>
          <p:cNvSpPr txBox="1"/>
          <p:nvPr/>
        </p:nvSpPr>
        <p:spPr>
          <a:xfrm>
            <a:off x="6217505" y="2349343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noProof="0" dirty="0"/>
              <a:t>Rückzahlung Hypothek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023BF0A-274E-5912-9DF8-75EADC80D62E}"/>
              </a:ext>
            </a:extLst>
          </p:cNvPr>
          <p:cNvSpPr txBox="1"/>
          <p:nvPr/>
        </p:nvSpPr>
        <p:spPr>
          <a:xfrm>
            <a:off x="9091072" y="2350555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Aufnahme Hypothek</a:t>
            </a:r>
          </a:p>
        </p:txBody>
      </p:sp>
    </p:spTree>
    <p:extLst>
      <p:ext uri="{BB962C8B-B14F-4D97-AF65-F5344CB8AC3E}">
        <p14:creationId xmlns:p14="http://schemas.microsoft.com/office/powerpoint/2010/main" val="363336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5" grpId="0"/>
      <p:bldP spid="17" grpId="0"/>
      <p:bldP spid="19" grpId="0"/>
      <p:bldP spid="20" grpId="0"/>
      <p:bldP spid="21" grpId="0"/>
      <p:bldP spid="23" grpId="0"/>
      <p:bldP spid="27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41FC-7DAC-C92B-4C75-2AF84224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21CE58A1-C18A-F259-46C8-415B482D6598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Konten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E7FB90-EB71-567E-178A-E7F5A75E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9BB8F3-E5AE-ACB6-0593-71EB061D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97A19A3A-9045-178D-C905-D0F470AA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3A23DA5-2B39-3B34-B3F9-FAB68C4B1B5A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ER Konten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8805189-1DD4-C850-DB15-6DDF5203E8B8}"/>
              </a:ext>
            </a:extLst>
          </p:cNvPr>
          <p:cNvSpPr txBox="1"/>
          <p:nvPr/>
        </p:nvSpPr>
        <p:spPr>
          <a:xfrm>
            <a:off x="399821" y="1048497"/>
            <a:ext cx="114342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Das beide Gebäude hat die Kleider AG für CHF 4 Mio. gekauft, seither wurden CHF 500‘000 indirekt abgeschrieben.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Sie hat im EG ihre Boutique, im 1. Stock sind die Büroräumlichkeiten. Die anderen Wohnungen sind vermietet. Im Grundbuch steht, dass eine Hypothek von CHF 2.6 Mio. darauf lastet.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70AEC7-D6B4-3792-87D2-E969CF63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81" y="2089782"/>
            <a:ext cx="3676677" cy="3448075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D93243EA-C4BD-40DF-6958-3602808F20D0}"/>
              </a:ext>
            </a:extLst>
          </p:cNvPr>
          <p:cNvSpPr/>
          <p:nvPr/>
        </p:nvSpPr>
        <p:spPr>
          <a:xfrm>
            <a:off x="6183610" y="4607740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Boutique</a:t>
            </a:r>
            <a:endParaRPr lang="de-CH" dirty="0"/>
          </a:p>
        </p:txBody>
      </p:sp>
      <p:sp>
        <p:nvSpPr>
          <p:cNvPr id="16" name="Pfeil: nach links 15">
            <a:extLst>
              <a:ext uri="{FF2B5EF4-FFF2-40B4-BE49-F238E27FC236}">
                <a16:creationId xmlns:a16="http://schemas.microsoft.com/office/drawing/2014/main" id="{FD644BDE-963D-C044-6983-413D0567FF7C}"/>
              </a:ext>
            </a:extLst>
          </p:cNvPr>
          <p:cNvSpPr/>
          <p:nvPr/>
        </p:nvSpPr>
        <p:spPr>
          <a:xfrm>
            <a:off x="10366842" y="3715086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Büro</a:t>
            </a:r>
            <a:endParaRPr lang="de-CH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0B8BB96D-8FBD-5E69-50FF-9893A1581B18}"/>
              </a:ext>
            </a:extLst>
          </p:cNvPr>
          <p:cNvSpPr/>
          <p:nvPr/>
        </p:nvSpPr>
        <p:spPr>
          <a:xfrm>
            <a:off x="6250181" y="3242533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1CC8CBBC-39E6-803C-3B6A-35E2EEC06E7E}"/>
              </a:ext>
            </a:extLst>
          </p:cNvPr>
          <p:cNvSpPr/>
          <p:nvPr/>
        </p:nvSpPr>
        <p:spPr>
          <a:xfrm>
            <a:off x="10366842" y="4607740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64C9A4F6-91DC-D99E-0F19-E3B7B040CA75}"/>
              </a:ext>
            </a:extLst>
          </p:cNvPr>
          <p:cNvSpPr/>
          <p:nvPr/>
        </p:nvSpPr>
        <p:spPr>
          <a:xfrm>
            <a:off x="10366842" y="2843125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77961ADA-C6E7-721F-8C16-C5C7D89AAE7F}"/>
              </a:ext>
            </a:extLst>
          </p:cNvPr>
          <p:cNvSpPr txBox="1"/>
          <p:nvPr/>
        </p:nvSpPr>
        <p:spPr>
          <a:xfrm>
            <a:off x="399820" y="2232637"/>
            <a:ext cx="6957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 finden wir Mieteinnahmen? Wo die Kosten für den </a:t>
            </a:r>
            <a:r>
              <a:rPr kumimoji="0" lang="de-DE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Hausabwart</a:t>
            </a: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E8FEC89-A393-C8D3-024A-E78076D81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8" y="2808767"/>
            <a:ext cx="4121435" cy="1284768"/>
          </a:xfrm>
          <a:prstGeom prst="rect">
            <a:avLst/>
          </a:prstGeom>
        </p:spPr>
      </p:pic>
      <p:sp>
        <p:nvSpPr>
          <p:cNvPr id="12" name="Pfeil: nach links 11">
            <a:extLst>
              <a:ext uri="{FF2B5EF4-FFF2-40B4-BE49-F238E27FC236}">
                <a16:creationId xmlns:a16="http://schemas.microsoft.com/office/drawing/2014/main" id="{F168DDB9-BE01-0F81-CB7F-C02DC5A7DADC}"/>
              </a:ext>
            </a:extLst>
          </p:cNvPr>
          <p:cNvSpPr/>
          <p:nvPr/>
        </p:nvSpPr>
        <p:spPr>
          <a:xfrm>
            <a:off x="4088816" y="3478025"/>
            <a:ext cx="2007183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Mieteinnahmen</a:t>
            </a:r>
            <a:endParaRPr lang="de-CH" dirty="0"/>
          </a:p>
        </p:txBody>
      </p:sp>
      <p:sp>
        <p:nvSpPr>
          <p:cNvPr id="14" name="Pfeil: nach links 13">
            <a:extLst>
              <a:ext uri="{FF2B5EF4-FFF2-40B4-BE49-F238E27FC236}">
                <a16:creationId xmlns:a16="http://schemas.microsoft.com/office/drawing/2014/main" id="{243ECEB1-47BD-3643-4B0C-3A8934C81DDB}"/>
              </a:ext>
            </a:extLst>
          </p:cNvPr>
          <p:cNvSpPr/>
          <p:nvPr/>
        </p:nvSpPr>
        <p:spPr>
          <a:xfrm rot="780835">
            <a:off x="3764958" y="4135082"/>
            <a:ext cx="2007183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Hausabwart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881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339D-D811-AF8F-FEB7-21317C4A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1FCF648-E8B8-62F1-1B1E-3EEBCE5EB3AA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Konten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AB0D23-79EC-8BB3-55DC-838F8D40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584D53-5E66-456E-B764-54E27FEB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80D0DAD0-8CDD-12A7-3805-FC7661D2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42CA13A-143D-B2AD-0FAF-7A52EE4E3233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noProof="0" dirty="0"/>
              <a:t>ER Konten – Aufwand &amp; Ertrag betrieblicher Liegenschaften</a:t>
            </a:r>
            <a:endParaRPr lang="de-CH" noProof="0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FC66238-F30C-EAD9-9C65-3C66D3963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43964"/>
              </p:ext>
            </p:extLst>
          </p:nvPr>
        </p:nvGraphicFramePr>
        <p:xfrm>
          <a:off x="236454" y="2070002"/>
          <a:ext cx="5733728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864">
                  <a:extLst>
                    <a:ext uri="{9D8B030D-6E8A-4147-A177-3AD203B41FA5}">
                      <a16:colId xmlns:a16="http://schemas.microsoft.com/office/drawing/2014/main" val="3386306783"/>
                    </a:ext>
                  </a:extLst>
                </a:gridCol>
                <a:gridCol w="2866864">
                  <a:extLst>
                    <a:ext uri="{9D8B030D-6E8A-4147-A177-3AD203B41FA5}">
                      <a16:colId xmlns:a16="http://schemas.microsoft.com/office/drawing/2014/main" val="37257593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CH" noProof="0" dirty="0"/>
                        <a:t>+                 Aufwand betrieblicher Liegenschaften                -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6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1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61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1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5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308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noProof="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057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noProof="0" dirty="0"/>
                        <a:t>Saldo*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764154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387B0166-590D-B405-A73A-91D2B0B75CC1}"/>
              </a:ext>
            </a:extLst>
          </p:cNvPr>
          <p:cNvSpPr txBox="1"/>
          <p:nvPr/>
        </p:nvSpPr>
        <p:spPr>
          <a:xfrm>
            <a:off x="252401" y="2819034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Unterhalt &amp; Reparatur	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F7594ED-6CCE-117A-9425-C329AC15C0E8}"/>
              </a:ext>
            </a:extLst>
          </p:cNvPr>
          <p:cNvSpPr txBox="1"/>
          <p:nvPr/>
        </p:nvSpPr>
        <p:spPr>
          <a:xfrm>
            <a:off x="236454" y="2450019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noProof="0" dirty="0"/>
              <a:t>Hypothekarzinsen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8C895D7-4534-EDE5-F85D-9A9A86FF20CD}"/>
              </a:ext>
            </a:extLst>
          </p:cNvPr>
          <p:cNvSpPr txBox="1"/>
          <p:nvPr/>
        </p:nvSpPr>
        <p:spPr>
          <a:xfrm>
            <a:off x="244553" y="3183908"/>
            <a:ext cx="309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Abgaben, Gebühre, </a:t>
            </a:r>
            <a:r>
              <a:rPr lang="de-CH" sz="1800" noProof="0" dirty="0" err="1"/>
              <a:t>Versich</a:t>
            </a:r>
            <a:r>
              <a:rPr lang="de-CH" sz="1800" noProof="0" dirty="0"/>
              <a:t>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B056D72-62C7-6164-3AE2-8FDD2D2C39CB}"/>
              </a:ext>
            </a:extLst>
          </p:cNvPr>
          <p:cNvSpPr txBox="1"/>
          <p:nvPr/>
        </p:nvSpPr>
        <p:spPr>
          <a:xfrm>
            <a:off x="252401" y="3547251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Verwaltungsaufwand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E2797C2-619D-7A53-CB53-D34CEA3BC377}"/>
              </a:ext>
            </a:extLst>
          </p:cNvPr>
          <p:cNvSpPr txBox="1"/>
          <p:nvPr/>
        </p:nvSpPr>
        <p:spPr>
          <a:xfrm>
            <a:off x="1580198" y="1386794"/>
            <a:ext cx="30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Für </a:t>
            </a:r>
            <a:r>
              <a:rPr lang="de-CH" sz="1800" b="1" noProof="0" dirty="0"/>
              <a:t>alle Aufwände </a:t>
            </a:r>
            <a:r>
              <a:rPr lang="de-CH" sz="1800" noProof="0" dirty="0"/>
              <a:t>in Bezug zu Liegenschaften</a:t>
            </a:r>
          </a:p>
        </p:txBody>
      </p:sp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53693062-F0B9-3750-4D11-B76DCF188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117778"/>
              </p:ext>
            </p:extLst>
          </p:nvPr>
        </p:nvGraphicFramePr>
        <p:xfrm>
          <a:off x="6217505" y="2033125"/>
          <a:ext cx="573372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864">
                  <a:extLst>
                    <a:ext uri="{9D8B030D-6E8A-4147-A177-3AD203B41FA5}">
                      <a16:colId xmlns:a16="http://schemas.microsoft.com/office/drawing/2014/main" val="3386306783"/>
                    </a:ext>
                  </a:extLst>
                </a:gridCol>
                <a:gridCol w="2866864">
                  <a:extLst>
                    <a:ext uri="{9D8B030D-6E8A-4147-A177-3AD203B41FA5}">
                      <a16:colId xmlns:a16="http://schemas.microsoft.com/office/drawing/2014/main" val="37257593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CH" noProof="0" dirty="0"/>
                        <a:t>-                   Ertrag betrieblicher Liegenschaften                  +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6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1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61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1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5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noProof="0" dirty="0"/>
                        <a:t>Saldo*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79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DC5684CB-5B6A-E8A6-5F08-237851AA9D36}"/>
              </a:ext>
            </a:extLst>
          </p:cNvPr>
          <p:cNvSpPr txBox="1"/>
          <p:nvPr/>
        </p:nvSpPr>
        <p:spPr>
          <a:xfrm>
            <a:off x="7509143" y="1386397"/>
            <a:ext cx="30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Für </a:t>
            </a:r>
            <a:r>
              <a:rPr lang="de-CH" sz="1800" b="1" noProof="0" dirty="0"/>
              <a:t>alle Erträge </a:t>
            </a:r>
            <a:r>
              <a:rPr lang="de-CH" sz="1800" noProof="0" dirty="0"/>
              <a:t>in Bezug zu Liegenschaften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3A4C8B3-438D-EA2E-A556-968F0C8526A6}"/>
              </a:ext>
            </a:extLst>
          </p:cNvPr>
          <p:cNvSpPr txBox="1"/>
          <p:nvPr/>
        </p:nvSpPr>
        <p:spPr>
          <a:xfrm>
            <a:off x="6096000" y="5014826"/>
            <a:ext cx="3406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* Total der jährlichen Aufwände und Erträge der Liegenschaften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C3B439-68C9-E3E4-FF61-927D58B38E3D}"/>
              </a:ext>
            </a:extLst>
          </p:cNvPr>
          <p:cNvSpPr txBox="1"/>
          <p:nvPr/>
        </p:nvSpPr>
        <p:spPr>
          <a:xfrm>
            <a:off x="252401" y="3921900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Heizung, Strom, Reinigung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EB23BAB-229E-4A18-F97C-4EB6D1A0E389}"/>
              </a:ext>
            </a:extLst>
          </p:cNvPr>
          <p:cNvSpPr txBox="1"/>
          <p:nvPr/>
        </p:nvSpPr>
        <p:spPr>
          <a:xfrm>
            <a:off x="257717" y="4290082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b="1" noProof="0" dirty="0"/>
              <a:t>Abschreibungen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38C1E43-BDBB-9756-488B-48D14FE172DC}"/>
              </a:ext>
            </a:extLst>
          </p:cNvPr>
          <p:cNvSpPr txBox="1"/>
          <p:nvPr/>
        </p:nvSpPr>
        <p:spPr>
          <a:xfrm>
            <a:off x="252401" y="4667338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Veräusserungsverlust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31A8074-3072-F489-E837-01F9245661D8}"/>
              </a:ext>
            </a:extLst>
          </p:cNvPr>
          <p:cNvSpPr txBox="1"/>
          <p:nvPr/>
        </p:nvSpPr>
        <p:spPr>
          <a:xfrm>
            <a:off x="9123494" y="2787138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Eigenmietwert (Geschäft)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DF3E4A1-86F8-BC28-5F0C-55EF080C6298}"/>
              </a:ext>
            </a:extLst>
          </p:cNvPr>
          <p:cNvSpPr txBox="1"/>
          <p:nvPr/>
        </p:nvSpPr>
        <p:spPr>
          <a:xfrm>
            <a:off x="9107547" y="2407491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noProof="0" dirty="0"/>
              <a:t>Mieteinahmen Dritten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D63E81A-CE2D-5A49-DA5E-2854FE031CA0}"/>
              </a:ext>
            </a:extLst>
          </p:cNvPr>
          <p:cNvSpPr txBox="1"/>
          <p:nvPr/>
        </p:nvSpPr>
        <p:spPr>
          <a:xfrm>
            <a:off x="9115646" y="3162644"/>
            <a:ext cx="277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Eigenmietwert (Privat)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D5F0069-879B-E0BA-3023-AC0D97D4A030}"/>
              </a:ext>
            </a:extLst>
          </p:cNvPr>
          <p:cNvSpPr txBox="1"/>
          <p:nvPr/>
        </p:nvSpPr>
        <p:spPr>
          <a:xfrm>
            <a:off x="9123494" y="3525987"/>
            <a:ext cx="281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de-CH" dirty="0"/>
              <a:t>Veräusserungsgewinn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7F6D873-2812-DE71-C412-C110B37DABDC}"/>
              </a:ext>
            </a:extLst>
          </p:cNvPr>
          <p:cNvSpPr txBox="1"/>
          <p:nvPr/>
        </p:nvSpPr>
        <p:spPr>
          <a:xfrm>
            <a:off x="255185" y="5057599"/>
            <a:ext cx="2815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800" noProof="0" dirty="0"/>
              <a:t>Handänderungskosten (</a:t>
            </a:r>
            <a:r>
              <a:rPr lang="de-CH" sz="1800" b="1" noProof="0" dirty="0"/>
              <a:t>Verkauf</a:t>
            </a:r>
            <a:r>
              <a:rPr lang="de-CH" sz="1800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36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7" grpId="0"/>
      <p:bldP spid="20" grpId="0"/>
      <p:bldP spid="23" grpId="0"/>
      <p:bldP spid="5" grpId="0"/>
      <p:bldP spid="8" grpId="0"/>
      <p:bldP spid="9" grpId="0"/>
      <p:bldP spid="11" grpId="0"/>
      <p:bldP spid="12" grpId="0"/>
      <p:bldP spid="14" grpId="0"/>
      <p:bldP spid="16" grpId="0"/>
      <p:bldP spid="18" grpId="0"/>
      <p:bldP spid="22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7CBF-227B-6520-EE3D-0407CCC8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7C731A59-60A7-B30D-DA0E-44400B98712F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Konten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512938F-4508-FC55-8BCC-76F5E577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E6BD5D-1EA1-C0E0-B94D-1C73F78C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AD7E0B99-5F04-C474-C83A-20E3896C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283E528-B0D1-A2CF-8D74-A9C55E76FCDF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dirty="0"/>
              <a:t>ER Konten – Aufwand &amp; Ertrag betrieblicher Liegenschaften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FBDEC01-08F2-9443-7C21-2C735E86B780}"/>
              </a:ext>
            </a:extLst>
          </p:cNvPr>
          <p:cNvSpPr txBox="1"/>
          <p:nvPr/>
        </p:nvSpPr>
        <p:spPr>
          <a:xfrm>
            <a:off x="399821" y="1048497"/>
            <a:ext cx="114342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Das beide Gebäude hat die Kleider AG für CHF 4 Mio. gekauft, seither wurden CHF 500‘000 indirekt abgeschrieben.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Sie hat im EG ihre Boutique, im 1. Stock sind die Büroräumlichkeiten. Die anderen Wohnungen sind vermietet. Im Grundbuch steht, dass eine Hypothek von CHF 2 Mio. darauf lastet.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E2483B4-EDDB-2D1C-D58F-32022006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81" y="2089782"/>
            <a:ext cx="3676677" cy="3448075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66D7E65E-054D-D361-CD41-9C667BC097F9}"/>
              </a:ext>
            </a:extLst>
          </p:cNvPr>
          <p:cNvSpPr/>
          <p:nvPr/>
        </p:nvSpPr>
        <p:spPr>
          <a:xfrm>
            <a:off x="6236770" y="4607740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Boutique</a:t>
            </a:r>
            <a:endParaRPr lang="de-CH" dirty="0"/>
          </a:p>
        </p:txBody>
      </p:sp>
      <p:sp>
        <p:nvSpPr>
          <p:cNvPr id="16" name="Pfeil: nach links 15">
            <a:extLst>
              <a:ext uri="{FF2B5EF4-FFF2-40B4-BE49-F238E27FC236}">
                <a16:creationId xmlns:a16="http://schemas.microsoft.com/office/drawing/2014/main" id="{4D77FD15-B116-91E9-4B42-2B4373B0E5E1}"/>
              </a:ext>
            </a:extLst>
          </p:cNvPr>
          <p:cNvSpPr/>
          <p:nvPr/>
        </p:nvSpPr>
        <p:spPr>
          <a:xfrm>
            <a:off x="10366842" y="3715086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Büro</a:t>
            </a:r>
            <a:endParaRPr lang="de-CH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8B5152E-8281-EBE2-FC2D-E5E9D14A77CE}"/>
              </a:ext>
            </a:extLst>
          </p:cNvPr>
          <p:cNvSpPr/>
          <p:nvPr/>
        </p:nvSpPr>
        <p:spPr>
          <a:xfrm>
            <a:off x="6250181" y="3242533"/>
            <a:ext cx="1286540" cy="5688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D5501891-4595-9342-27B3-A4BB76EEE6F3}"/>
              </a:ext>
            </a:extLst>
          </p:cNvPr>
          <p:cNvSpPr/>
          <p:nvPr/>
        </p:nvSpPr>
        <p:spPr>
          <a:xfrm>
            <a:off x="10366842" y="4607740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9D30CC26-27E7-8CA9-1AD0-9E3DFCE93367}"/>
              </a:ext>
            </a:extLst>
          </p:cNvPr>
          <p:cNvSpPr/>
          <p:nvPr/>
        </p:nvSpPr>
        <p:spPr>
          <a:xfrm>
            <a:off x="10366842" y="2843125"/>
            <a:ext cx="1286540" cy="54491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Vermietet</a:t>
            </a:r>
            <a:endParaRPr lang="de-CH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D04C092-A79E-C570-6460-2AF7EAB863F6}"/>
              </a:ext>
            </a:extLst>
          </p:cNvPr>
          <p:cNvSpPr txBox="1"/>
          <p:nvPr/>
        </p:nvSpPr>
        <p:spPr>
          <a:xfrm>
            <a:off x="399820" y="2232637"/>
            <a:ext cx="5479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buchen wir die Mieteinnahmen und die Kosten für den </a:t>
            </a:r>
            <a:r>
              <a:rPr kumimoji="0" lang="de-DE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Hausabwart</a:t>
            </a: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FA70A8B-38A5-2197-E55C-0EE4EFCB8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095430"/>
              </p:ext>
            </p:extLst>
          </p:nvPr>
        </p:nvGraphicFramePr>
        <p:xfrm>
          <a:off x="399822" y="3294665"/>
          <a:ext cx="57837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020">
                  <a:extLst>
                    <a:ext uri="{9D8B030D-6E8A-4147-A177-3AD203B41FA5}">
                      <a16:colId xmlns:a16="http://schemas.microsoft.com/office/drawing/2014/main" val="1887034617"/>
                    </a:ext>
                  </a:extLst>
                </a:gridCol>
                <a:gridCol w="1664384">
                  <a:extLst>
                    <a:ext uri="{9D8B030D-6E8A-4147-A177-3AD203B41FA5}">
                      <a16:colId xmlns:a16="http://schemas.microsoft.com/office/drawing/2014/main" val="868779278"/>
                    </a:ext>
                  </a:extLst>
                </a:gridCol>
                <a:gridCol w="1664384">
                  <a:extLst>
                    <a:ext uri="{9D8B030D-6E8A-4147-A177-3AD203B41FA5}">
                      <a16:colId xmlns:a16="http://schemas.microsoft.com/office/drawing/2014/main" val="389724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Haben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739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Lohnkosten Abwart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36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Miete Boutique &amp; Büro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Miete «Vermietet»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36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(Miete Privatwohnung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31357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416C2582-E1D5-FCC0-6B7A-B5F10ACA3F38}"/>
              </a:ext>
            </a:extLst>
          </p:cNvPr>
          <p:cNvSpPr txBox="1"/>
          <p:nvPr/>
        </p:nvSpPr>
        <p:spPr>
          <a:xfrm>
            <a:off x="2917020" y="3666632"/>
            <a:ext cx="15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Lieg.</a:t>
            </a:r>
            <a:endParaRPr lang="de-CH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F061B0E-084A-5612-EA8A-A706C4BE3C5B}"/>
              </a:ext>
            </a:extLst>
          </p:cNvPr>
          <p:cNvSpPr txBox="1"/>
          <p:nvPr/>
        </p:nvSpPr>
        <p:spPr>
          <a:xfrm>
            <a:off x="4570433" y="3666632"/>
            <a:ext cx="145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BaG</a:t>
            </a:r>
            <a:endParaRPr lang="de-CH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C47F2F4-9901-B9AD-6752-57E405755450}"/>
              </a:ext>
            </a:extLst>
          </p:cNvPr>
          <p:cNvSpPr txBox="1"/>
          <p:nvPr/>
        </p:nvSpPr>
        <p:spPr>
          <a:xfrm>
            <a:off x="2917020" y="4041434"/>
            <a:ext cx="15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Raum A</a:t>
            </a:r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6FB4131-F902-361F-4E85-0E687A04C0E5}"/>
              </a:ext>
            </a:extLst>
          </p:cNvPr>
          <p:cNvSpPr txBox="1"/>
          <p:nvPr/>
        </p:nvSpPr>
        <p:spPr>
          <a:xfrm>
            <a:off x="4570433" y="4041434"/>
            <a:ext cx="145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Lieg.</a:t>
            </a:r>
            <a:endParaRPr lang="de-CH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647459E-B3BD-FBE8-69B0-D0965D66A818}"/>
              </a:ext>
            </a:extLst>
          </p:cNvPr>
          <p:cNvSpPr txBox="1"/>
          <p:nvPr/>
        </p:nvSpPr>
        <p:spPr>
          <a:xfrm>
            <a:off x="2911682" y="4393500"/>
            <a:ext cx="15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BaG</a:t>
            </a:r>
            <a:endParaRPr lang="de-CH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1CD7166-E78E-0ACB-F194-B4109CFDB80C}"/>
              </a:ext>
            </a:extLst>
          </p:cNvPr>
          <p:cNvSpPr txBox="1"/>
          <p:nvPr/>
        </p:nvSpPr>
        <p:spPr>
          <a:xfrm>
            <a:off x="4565095" y="4393500"/>
            <a:ext cx="145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Lieg.</a:t>
            </a:r>
            <a:endParaRPr lang="de-CH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42E9D1D-E6C7-5220-9C57-27ADA46FDF8E}"/>
              </a:ext>
            </a:extLst>
          </p:cNvPr>
          <p:cNvSpPr txBox="1"/>
          <p:nvPr/>
        </p:nvSpPr>
        <p:spPr>
          <a:xfrm>
            <a:off x="2911682" y="4781988"/>
            <a:ext cx="15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Privat</a:t>
            </a:r>
            <a:endParaRPr lang="de-CH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DFB1906-F062-BF98-AA43-F07BC274BD14}"/>
              </a:ext>
            </a:extLst>
          </p:cNvPr>
          <p:cNvSpPr txBox="1"/>
          <p:nvPr/>
        </p:nvSpPr>
        <p:spPr>
          <a:xfrm>
            <a:off x="4565095" y="4781988"/>
            <a:ext cx="145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Lieg.)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0969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7" grpId="0"/>
      <p:bldP spid="13" grpId="0"/>
      <p:bldP spid="17" grpId="0"/>
      <p:bldP spid="19" grpId="0"/>
      <p:bldP spid="21" grpId="0"/>
      <p:bldP spid="23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72AD-FEA2-674B-4075-CD829977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8DDC6A33-9FB5-8BED-6A0A-ED256F280E22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17. Immobilien – Buchführung 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10F4A5-DAA6-7CDF-7268-BE18DF43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E6FFC26-6E62-7C82-A6F3-389C05D3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2799ADFF-5A4E-AC37-0E4F-79443703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E81E5A1-DBFB-F125-D9FF-04CCA9F04DBF}"/>
              </a:ext>
            </a:extLst>
          </p:cNvPr>
          <p:cNvSpPr txBox="1"/>
          <p:nvPr/>
        </p:nvSpPr>
        <p:spPr>
          <a:xfrm>
            <a:off x="399822" y="622009"/>
            <a:ext cx="10413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Typische Buchungssätze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(vgl. S. 34)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35AA7A6-96BB-F7B5-46A2-C0AA7B3F9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48" y="991341"/>
            <a:ext cx="6991401" cy="5648366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9914E881-5EFB-0E0F-FF00-F0E3023556E2}"/>
              </a:ext>
            </a:extLst>
          </p:cNvPr>
          <p:cNvSpPr/>
          <p:nvPr/>
        </p:nvSpPr>
        <p:spPr>
          <a:xfrm rot="10800000">
            <a:off x="7510965" y="4900346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05C78E0-1663-A7B6-57B5-316739CB73AE}"/>
              </a:ext>
            </a:extLst>
          </p:cNvPr>
          <p:cNvSpPr txBox="1"/>
          <p:nvPr/>
        </p:nvSpPr>
        <p:spPr>
          <a:xfrm>
            <a:off x="8627384" y="4833039"/>
            <a:ext cx="3403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Mietzahlung: i.d.R. vorschüssig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939D70D7-036E-B19E-0E8C-5A72D1565E2A}"/>
              </a:ext>
            </a:extLst>
          </p:cNvPr>
          <p:cNvSpPr/>
          <p:nvPr/>
        </p:nvSpPr>
        <p:spPr>
          <a:xfrm rot="10800000">
            <a:off x="7510965" y="5414253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924A388-C417-B5EC-8FA0-22D3891A8B83}"/>
              </a:ext>
            </a:extLst>
          </p:cNvPr>
          <p:cNvSpPr txBox="1"/>
          <p:nvPr/>
        </p:nvSpPr>
        <p:spPr>
          <a:xfrm>
            <a:off x="8627384" y="5346946"/>
            <a:ext cx="3403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Zinszahlung: i.d.R. nachschüssig</a:t>
            </a:r>
          </a:p>
        </p:txBody>
      </p:sp>
    </p:spTree>
    <p:extLst>
      <p:ext uri="{BB962C8B-B14F-4D97-AF65-F5344CB8AC3E}">
        <p14:creationId xmlns:p14="http://schemas.microsoft.com/office/powerpoint/2010/main" val="315316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AEBF-D012-6D12-A016-939E9ACD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ED211848-E8AB-44B1-D383-096B212A866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F89B6D3-4042-C56F-4287-8193A5AF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C2C2D9-02FF-6798-D21D-63BA3A31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AD7528DB-95FA-9FF2-0AE6-27CF6329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BF31B59-A129-A8BC-D808-BCD10F54B309}"/>
              </a:ext>
            </a:extLst>
          </p:cNvPr>
          <p:cNvSpPr txBox="1"/>
          <p:nvPr/>
        </p:nvSpPr>
        <p:spPr>
          <a:xfrm>
            <a:off x="399822" y="739261"/>
            <a:ext cx="60951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/ HA</a:t>
            </a:r>
            <a:endParaRPr lang="de-CH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Lesen Sie S. 30-32</a:t>
            </a:r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</a:p>
          <a:p>
            <a:r>
              <a:rPr lang="de-DE" dirty="0"/>
              <a:t>	Übung 1 </a:t>
            </a:r>
            <a:r>
              <a:rPr lang="de-DE" dirty="0">
                <a:sym typeface="Wingdings" panose="05000000000000000000" pitchFamily="2" charset="2"/>
              </a:rPr>
              <a:t> fertig</a:t>
            </a:r>
          </a:p>
          <a:p>
            <a:r>
              <a:rPr lang="de-DE" dirty="0">
                <a:sym typeface="Wingdings" panose="05000000000000000000" pitchFamily="2" charset="2"/>
              </a:rPr>
              <a:t>	Übung 3  fertig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</a:p>
          <a:p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512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8ADD-9962-8A89-70D2-7AD45364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63645F8-8475-73B8-53D9-83DF22588011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17. Immobilien – Kauf &amp; Verkauf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CD9C04-9F08-1638-A7CE-66291547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20B169-7091-593B-E2DD-FE797F1D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4BC1FF63-A4F0-CF9B-A7F1-920E1196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D504DE9-25E1-0D74-0EC0-BE2ACD132F76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Kauf einer Immobilie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13343E0-14ED-2F00-9B85-18F3437240A5}"/>
              </a:ext>
            </a:extLst>
          </p:cNvPr>
          <p:cNvSpPr txBox="1"/>
          <p:nvPr/>
        </p:nvSpPr>
        <p:spPr>
          <a:xfrm>
            <a:off x="399821" y="1048497"/>
            <a:ext cx="114342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Kleider AG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kauft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beide Immobilen für CHF 4 Mio.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Preis der Immobilen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>
              <a:solidFill>
                <a:prstClr val="black"/>
              </a:solidFill>
              <a:latin typeface="Calibri" panose="020F0502020204030204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muss noch berücksichtigt werden und ist in diesem Preis nicht enthalten?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F8D7828-2E49-874B-6C8B-A7B8BD75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412" y="701883"/>
            <a:ext cx="2474862" cy="2320984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D9F9A453-7B8D-9B05-271C-5BBF093E91AD}"/>
              </a:ext>
            </a:extLst>
          </p:cNvPr>
          <p:cNvSpPr txBox="1"/>
          <p:nvPr/>
        </p:nvSpPr>
        <p:spPr>
          <a:xfrm>
            <a:off x="399820" y="2232637"/>
            <a:ext cx="54799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Übernahme Hypothek?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Vorrat an Heizöl?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Übernahme Versicherung?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Handänderungskosten?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Vorausbezahlte Mieten 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2FC7F41-2857-036D-F79B-573FBAA9B00C}"/>
              </a:ext>
            </a:extLst>
          </p:cNvPr>
          <p:cNvSpPr txBox="1"/>
          <p:nvPr/>
        </p:nvSpPr>
        <p:spPr>
          <a:xfrm>
            <a:off x="399819" y="3862963"/>
            <a:ext cx="7062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 muss alles</a:t>
            </a: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separat gebucht werden! 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9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C548-1136-87B2-059B-5644BEFB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D2D32BD7-DED3-F6D9-53B1-17018E5E50CA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17. Immobilien – Kauf &amp; Verkauf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778812-F945-6FE6-00D4-C5D4E6C3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1497FC-1C6C-61A4-268B-BB3B0534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69818819-6A0D-E5D3-CE7E-39DED08C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106701F-9731-9DF9-A56A-7CA523978562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CH" b="1" dirty="0">
                <a:solidFill>
                  <a:prstClr val="black"/>
                </a:solidFill>
              </a:rPr>
              <a:t>Kauf einer Immobilie – Sicht </a:t>
            </a:r>
            <a:r>
              <a:rPr lang="de-CH" b="1" dirty="0">
                <a:solidFill>
                  <a:prstClr val="black"/>
                </a:solidFill>
                <a:highlight>
                  <a:srgbClr val="FFFF00"/>
                </a:highlight>
              </a:rPr>
              <a:t>Käufer</a:t>
            </a:r>
            <a:endParaRPr lang="de-CH" dirty="0">
              <a:solidFill>
                <a:prstClr val="black"/>
              </a:solidFill>
              <a:highlight>
                <a:srgbClr val="FFFF00"/>
              </a:highlight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9BD1A2D-EBDC-52EA-BFD7-356E3CB3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412" y="4402026"/>
            <a:ext cx="2474862" cy="2320984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62542C6-4881-48CA-BCC0-BFC681552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082970"/>
              </p:ext>
            </p:extLst>
          </p:nvPr>
        </p:nvGraphicFramePr>
        <p:xfrm>
          <a:off x="399821" y="1069723"/>
          <a:ext cx="7925471" cy="345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091">
                  <a:extLst>
                    <a:ext uri="{9D8B030D-6E8A-4147-A177-3AD203B41FA5}">
                      <a16:colId xmlns:a16="http://schemas.microsoft.com/office/drawing/2014/main" val="1887034617"/>
                    </a:ext>
                  </a:extLst>
                </a:gridCol>
                <a:gridCol w="2280690">
                  <a:extLst>
                    <a:ext uri="{9D8B030D-6E8A-4147-A177-3AD203B41FA5}">
                      <a16:colId xmlns:a16="http://schemas.microsoft.com/office/drawing/2014/main" val="868779278"/>
                    </a:ext>
                  </a:extLst>
                </a:gridCol>
                <a:gridCol w="2280690">
                  <a:extLst>
                    <a:ext uri="{9D8B030D-6E8A-4147-A177-3AD203B41FA5}">
                      <a16:colId xmlns:a16="http://schemas.microsoft.com/office/drawing/2014/main" val="389724268"/>
                    </a:ext>
                  </a:extLst>
                </a:gridCol>
              </a:tblGrid>
              <a:tr h="402743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Haben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739270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Kaufpreis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363655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Übernahme Hypothek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0983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Übernahme Heizöl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369292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Übernahme Versicherung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31357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Vom Verkäufer bereits erhaltene vorausbezahlte Mieten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928265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Zahlung Rest an Verkäufer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57608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Rechnung Handänderungskosten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02435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D37D9A41-9429-E361-50B9-DD7EDA0A3D23}"/>
              </a:ext>
            </a:extLst>
          </p:cNvPr>
          <p:cNvSpPr txBox="1"/>
          <p:nvPr/>
        </p:nvSpPr>
        <p:spPr>
          <a:xfrm>
            <a:off x="3836736" y="1478905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EE0D9B8-72AD-816F-B011-849DD433CCC2}"/>
              </a:ext>
            </a:extLst>
          </p:cNvPr>
          <p:cNvSpPr txBox="1"/>
          <p:nvPr/>
        </p:nvSpPr>
        <p:spPr>
          <a:xfrm>
            <a:off x="6092109" y="1484221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6D0B822-2D03-19DC-C7BC-67633ADF9403}"/>
              </a:ext>
            </a:extLst>
          </p:cNvPr>
          <p:cNvSpPr txBox="1"/>
          <p:nvPr/>
        </p:nvSpPr>
        <p:spPr>
          <a:xfrm>
            <a:off x="3836736" y="1896237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9F6C61F-13B6-EECB-5A41-AF31B82EF9D5}"/>
              </a:ext>
            </a:extLst>
          </p:cNvPr>
          <p:cNvSpPr txBox="1"/>
          <p:nvPr/>
        </p:nvSpPr>
        <p:spPr>
          <a:xfrm>
            <a:off x="6081477" y="1922820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Hypothek</a:t>
            </a:r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23FE16-B7CC-72BB-7361-68A785BE1664}"/>
              </a:ext>
            </a:extLst>
          </p:cNvPr>
          <p:cNvSpPr txBox="1"/>
          <p:nvPr/>
        </p:nvSpPr>
        <p:spPr>
          <a:xfrm>
            <a:off x="3831398" y="2296149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F452F2C-597C-0BE7-8227-BF9449AC5B88}"/>
              </a:ext>
            </a:extLst>
          </p:cNvPr>
          <p:cNvSpPr txBox="1"/>
          <p:nvPr/>
        </p:nvSpPr>
        <p:spPr>
          <a:xfrm>
            <a:off x="6086771" y="2296150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B930010-F729-D1FB-7270-39E953513A63}"/>
              </a:ext>
            </a:extLst>
          </p:cNvPr>
          <p:cNvSpPr txBox="1"/>
          <p:nvPr/>
        </p:nvSpPr>
        <p:spPr>
          <a:xfrm>
            <a:off x="3831398" y="2679322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52B5B39-5349-700D-0C08-BB4D7D5B9A1C}"/>
              </a:ext>
            </a:extLst>
          </p:cNvPr>
          <p:cNvSpPr txBox="1"/>
          <p:nvPr/>
        </p:nvSpPr>
        <p:spPr>
          <a:xfrm>
            <a:off x="6081455" y="2689955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18" name="Pfeil: nach links 17">
            <a:extLst>
              <a:ext uri="{FF2B5EF4-FFF2-40B4-BE49-F238E27FC236}">
                <a16:creationId xmlns:a16="http://schemas.microsoft.com/office/drawing/2014/main" id="{75EF52CA-D47D-C8C9-A6B8-0D7775A867AF}"/>
              </a:ext>
            </a:extLst>
          </p:cNvPr>
          <p:cNvSpPr/>
          <p:nvPr/>
        </p:nvSpPr>
        <p:spPr>
          <a:xfrm>
            <a:off x="8420988" y="1477927"/>
            <a:ext cx="1961472" cy="354362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Zwischenkonto</a:t>
            </a:r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EA2F76C-F32C-2786-47DD-5F01FEC3323F}"/>
              </a:ext>
            </a:extLst>
          </p:cNvPr>
          <p:cNvSpPr txBox="1"/>
          <p:nvPr/>
        </p:nvSpPr>
        <p:spPr>
          <a:xfrm>
            <a:off x="3831398" y="3205888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BDFDAA6-1EFF-F1E7-D191-6A2EBED18CD4}"/>
              </a:ext>
            </a:extLst>
          </p:cNvPr>
          <p:cNvSpPr txBox="1"/>
          <p:nvPr/>
        </p:nvSpPr>
        <p:spPr>
          <a:xfrm>
            <a:off x="6081455" y="3216521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>
              <a:effectLst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1CB2CCB-BCE9-931D-7C17-944F9249B4C1}"/>
              </a:ext>
            </a:extLst>
          </p:cNvPr>
          <p:cNvSpPr txBox="1"/>
          <p:nvPr/>
        </p:nvSpPr>
        <p:spPr>
          <a:xfrm>
            <a:off x="3847990" y="3744189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Verb. an Verkäufer</a:t>
            </a:r>
            <a:endParaRPr lang="de-CH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42B9F24-03B8-FCA2-5CA8-031C4BDEF609}"/>
              </a:ext>
            </a:extLst>
          </p:cNvPr>
          <p:cNvSpPr txBox="1"/>
          <p:nvPr/>
        </p:nvSpPr>
        <p:spPr>
          <a:xfrm>
            <a:off x="6129943" y="3744190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BaG</a:t>
            </a:r>
            <a:endParaRPr lang="de-CH" dirty="0">
              <a:effectLst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A1CA4BB-D7C9-E35F-2C9F-F53602AEC1AC}"/>
              </a:ext>
            </a:extLst>
          </p:cNvPr>
          <p:cNvSpPr txBox="1"/>
          <p:nvPr/>
        </p:nvSpPr>
        <p:spPr>
          <a:xfrm>
            <a:off x="3797749" y="4153372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A9E6B80-55AD-B347-364B-19C25CA6615D}"/>
              </a:ext>
            </a:extLst>
          </p:cNvPr>
          <p:cNvSpPr txBox="1"/>
          <p:nvPr/>
        </p:nvSpPr>
        <p:spPr>
          <a:xfrm>
            <a:off x="6079702" y="4158688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VLL</a:t>
            </a:r>
            <a:endParaRPr lang="de-CH" dirty="0"/>
          </a:p>
        </p:txBody>
      </p:sp>
      <p:sp>
        <p:nvSpPr>
          <p:cNvPr id="27" name="Pfeil: nach links 26">
            <a:extLst>
              <a:ext uri="{FF2B5EF4-FFF2-40B4-BE49-F238E27FC236}">
                <a16:creationId xmlns:a16="http://schemas.microsoft.com/office/drawing/2014/main" id="{0F5B0345-C6DC-A6C6-D55C-2AC1FC17633A}"/>
              </a:ext>
            </a:extLst>
          </p:cNvPr>
          <p:cNvSpPr/>
          <p:nvPr/>
        </p:nvSpPr>
        <p:spPr>
          <a:xfrm rot="5400000">
            <a:off x="4719086" y="4883719"/>
            <a:ext cx="1961472" cy="354362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Auf 0 setzen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118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  <p:bldP spid="25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01B7-00E3-DA43-2CEF-5324AB3D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58E05BD-A987-555B-4A8B-693E1CEC3082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17. Immobilien – Kauf &amp; Verkauf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76E23E-8947-34E6-3F51-96D3156E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CD6F76-ADB1-5648-5D26-26DE223E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CADB323F-322C-6756-2D60-2B758F78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CAA5249-790C-50E8-4D6B-7C5F055372D2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CH" b="1" dirty="0">
                <a:solidFill>
                  <a:prstClr val="black"/>
                </a:solidFill>
              </a:rPr>
              <a:t>Verkauf einer Immobilie – Sicht </a:t>
            </a:r>
            <a:r>
              <a:rPr lang="de-CH" b="1" dirty="0">
                <a:solidFill>
                  <a:prstClr val="black"/>
                </a:solidFill>
                <a:highlight>
                  <a:srgbClr val="FFFF00"/>
                </a:highlight>
              </a:rPr>
              <a:t>Verkäufer</a:t>
            </a:r>
            <a:endParaRPr lang="de-CH" dirty="0">
              <a:solidFill>
                <a:prstClr val="black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300662F-307B-C5E4-F68D-A8934A809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180829"/>
              </p:ext>
            </p:extLst>
          </p:nvPr>
        </p:nvGraphicFramePr>
        <p:xfrm>
          <a:off x="399821" y="1069723"/>
          <a:ext cx="7925471" cy="466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091">
                  <a:extLst>
                    <a:ext uri="{9D8B030D-6E8A-4147-A177-3AD203B41FA5}">
                      <a16:colId xmlns:a16="http://schemas.microsoft.com/office/drawing/2014/main" val="1887034617"/>
                    </a:ext>
                  </a:extLst>
                </a:gridCol>
                <a:gridCol w="2280690">
                  <a:extLst>
                    <a:ext uri="{9D8B030D-6E8A-4147-A177-3AD203B41FA5}">
                      <a16:colId xmlns:a16="http://schemas.microsoft.com/office/drawing/2014/main" val="868779278"/>
                    </a:ext>
                  </a:extLst>
                </a:gridCol>
                <a:gridCol w="2280690">
                  <a:extLst>
                    <a:ext uri="{9D8B030D-6E8A-4147-A177-3AD203B41FA5}">
                      <a16:colId xmlns:a16="http://schemas.microsoft.com/office/drawing/2014/main" val="389724268"/>
                    </a:ext>
                  </a:extLst>
                </a:gridCol>
              </a:tblGrid>
              <a:tr h="402743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Haben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739270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Kaufpreis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363655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Auflösung WB bei </a:t>
                      </a:r>
                      <a:r>
                        <a:rPr lang="de-DE" dirty="0" err="1"/>
                        <a:t>ind</a:t>
                      </a:r>
                      <a:r>
                        <a:rPr lang="de-DE" dirty="0"/>
                        <a:t>. Abschr.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62288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Veräusserungsgewinn BW &lt; 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0983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Veräusserungsverlust BW &gt; 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369292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CH" dirty="0"/>
                        <a:t>Käufer übernimmt Hypothek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31357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Käufer übernimmt Heizöl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928265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Käufer übernimmt Versicherung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57608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Vom Verkäufer bereits erhaltene vorausbezahlte Mieten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02435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r>
                        <a:rPr lang="de-DE" dirty="0"/>
                        <a:t>Zahlung Rest vom Käufer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411089"/>
                  </a:ext>
                </a:extLst>
              </a:tr>
              <a:tr h="40274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Rechnung Handänderungskosten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744315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670EAB80-116C-5CFB-DD4F-AFCDD72AA79C}"/>
              </a:ext>
            </a:extLst>
          </p:cNvPr>
          <p:cNvSpPr txBox="1"/>
          <p:nvPr/>
        </p:nvSpPr>
        <p:spPr>
          <a:xfrm>
            <a:off x="3836736" y="1478905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FD7050D-9E3B-FEE0-8DF4-6183385EB340}"/>
              </a:ext>
            </a:extLst>
          </p:cNvPr>
          <p:cNvSpPr txBox="1"/>
          <p:nvPr/>
        </p:nvSpPr>
        <p:spPr>
          <a:xfrm>
            <a:off x="6092109" y="1484221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E3DBCD6-39F4-D905-2CDA-2B5B8AD31768}"/>
              </a:ext>
            </a:extLst>
          </p:cNvPr>
          <p:cNvSpPr txBox="1"/>
          <p:nvPr/>
        </p:nvSpPr>
        <p:spPr>
          <a:xfrm>
            <a:off x="3836736" y="1896237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WB Immo</a:t>
            </a:r>
            <a:endParaRPr lang="de-CH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EF61672-68FF-969F-E2F2-E59896CD58C8}"/>
              </a:ext>
            </a:extLst>
          </p:cNvPr>
          <p:cNvSpPr txBox="1"/>
          <p:nvPr/>
        </p:nvSpPr>
        <p:spPr>
          <a:xfrm>
            <a:off x="6081477" y="1922820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8036B19-BDB3-5AB6-68D8-397B880E1101}"/>
              </a:ext>
            </a:extLst>
          </p:cNvPr>
          <p:cNvSpPr txBox="1"/>
          <p:nvPr/>
        </p:nvSpPr>
        <p:spPr>
          <a:xfrm>
            <a:off x="3831398" y="2296149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4F18A15-4D00-51C2-15BB-50CC3769133B}"/>
              </a:ext>
            </a:extLst>
          </p:cNvPr>
          <p:cNvSpPr txBox="1"/>
          <p:nvPr/>
        </p:nvSpPr>
        <p:spPr>
          <a:xfrm>
            <a:off x="6086771" y="2296150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</a:t>
            </a:r>
            <a:r>
              <a:rPr lang="de-DE" dirty="0" err="1"/>
              <a:t>Liegensch</a:t>
            </a:r>
            <a:r>
              <a:rPr lang="de-DE" dirty="0"/>
              <a:t>. </a:t>
            </a:r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31DDD27-F4C4-0D51-6E91-35DBAFE58AA3}"/>
              </a:ext>
            </a:extLst>
          </p:cNvPr>
          <p:cNvSpPr txBox="1"/>
          <p:nvPr/>
        </p:nvSpPr>
        <p:spPr>
          <a:xfrm>
            <a:off x="3831398" y="2679322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AAF753F-5992-D96B-C283-66C26475F85E}"/>
              </a:ext>
            </a:extLst>
          </p:cNvPr>
          <p:cNvSpPr txBox="1"/>
          <p:nvPr/>
        </p:nvSpPr>
        <p:spPr>
          <a:xfrm>
            <a:off x="6081455" y="2689955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Immobilien</a:t>
            </a:r>
            <a:endParaRPr lang="de-CH" dirty="0"/>
          </a:p>
        </p:txBody>
      </p:sp>
      <p:sp>
        <p:nvSpPr>
          <p:cNvPr id="18" name="Pfeil: nach links 17">
            <a:extLst>
              <a:ext uri="{FF2B5EF4-FFF2-40B4-BE49-F238E27FC236}">
                <a16:creationId xmlns:a16="http://schemas.microsoft.com/office/drawing/2014/main" id="{1974EC40-3919-3FDA-C423-9AB762A56303}"/>
              </a:ext>
            </a:extLst>
          </p:cNvPr>
          <p:cNvSpPr/>
          <p:nvPr/>
        </p:nvSpPr>
        <p:spPr>
          <a:xfrm rot="18900000">
            <a:off x="5098966" y="650255"/>
            <a:ext cx="1961472" cy="354362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Zwischenkonto</a:t>
            </a:r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B8435EE-687D-52C1-D324-E6AADA76812C}"/>
              </a:ext>
            </a:extLst>
          </p:cNvPr>
          <p:cNvSpPr txBox="1"/>
          <p:nvPr/>
        </p:nvSpPr>
        <p:spPr>
          <a:xfrm>
            <a:off x="3831398" y="3115512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Hypothek</a:t>
            </a:r>
            <a:endParaRPr lang="de-CH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02D193F-E80D-9C27-2B66-09A278316F5B}"/>
              </a:ext>
            </a:extLst>
          </p:cNvPr>
          <p:cNvSpPr txBox="1"/>
          <p:nvPr/>
        </p:nvSpPr>
        <p:spPr>
          <a:xfrm>
            <a:off x="6081455" y="3126145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70564A3-9CE6-03AB-DC39-AF558353AC18}"/>
              </a:ext>
            </a:extLst>
          </p:cNvPr>
          <p:cNvSpPr txBox="1"/>
          <p:nvPr/>
        </p:nvSpPr>
        <p:spPr>
          <a:xfrm>
            <a:off x="3847990" y="3504956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CD66BC-4743-FC1F-C4E3-9775836DC1C0}"/>
              </a:ext>
            </a:extLst>
          </p:cNvPr>
          <p:cNvSpPr txBox="1"/>
          <p:nvPr/>
        </p:nvSpPr>
        <p:spPr>
          <a:xfrm>
            <a:off x="6129943" y="3504957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3D00CDD-057F-37E9-D81E-FA25CC4E2895}"/>
              </a:ext>
            </a:extLst>
          </p:cNvPr>
          <p:cNvSpPr txBox="1"/>
          <p:nvPr/>
        </p:nvSpPr>
        <p:spPr>
          <a:xfrm>
            <a:off x="3797749" y="3914139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81AF498-1EBB-1EAB-E99E-C512A9FF6DED}"/>
              </a:ext>
            </a:extLst>
          </p:cNvPr>
          <p:cNvSpPr txBox="1"/>
          <p:nvPr/>
        </p:nvSpPr>
        <p:spPr>
          <a:xfrm>
            <a:off x="6079702" y="3919455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9573FC-1644-926C-5783-9365331B04D9}"/>
              </a:ext>
            </a:extLst>
          </p:cNvPr>
          <p:cNvSpPr txBox="1"/>
          <p:nvPr/>
        </p:nvSpPr>
        <p:spPr>
          <a:xfrm>
            <a:off x="3810134" y="4429790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 betr. </a:t>
            </a:r>
            <a:r>
              <a:rPr lang="de-DE" dirty="0" err="1"/>
              <a:t>Liegensch</a:t>
            </a:r>
            <a:r>
              <a:rPr lang="de-DE" dirty="0"/>
              <a:t>. 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F4888C7-F689-B47E-7683-78610EECD952}"/>
              </a:ext>
            </a:extLst>
          </p:cNvPr>
          <p:cNvSpPr txBox="1"/>
          <p:nvPr/>
        </p:nvSpPr>
        <p:spPr>
          <a:xfrm>
            <a:off x="6092087" y="4435106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91CF771-B4B5-97B6-FF87-CBBA490E3922}"/>
              </a:ext>
            </a:extLst>
          </p:cNvPr>
          <p:cNvSpPr txBox="1"/>
          <p:nvPr/>
        </p:nvSpPr>
        <p:spPr>
          <a:xfrm>
            <a:off x="3792433" y="4936803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BaG</a:t>
            </a:r>
            <a:endParaRPr lang="de-CH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A5AF347-D274-F108-0306-7CFCF782096F}"/>
              </a:ext>
            </a:extLst>
          </p:cNvPr>
          <p:cNvSpPr txBox="1"/>
          <p:nvPr/>
        </p:nvSpPr>
        <p:spPr>
          <a:xfrm>
            <a:off x="6074386" y="4942119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Ford. an Käufer</a:t>
            </a:r>
            <a:endParaRPr lang="de-CH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193D7344-4E5C-DF1B-FD39-E38F40BCC6E8}"/>
              </a:ext>
            </a:extLst>
          </p:cNvPr>
          <p:cNvSpPr/>
          <p:nvPr/>
        </p:nvSpPr>
        <p:spPr>
          <a:xfrm>
            <a:off x="8163327" y="4955509"/>
            <a:ext cx="1961472" cy="354362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Auf 0 setzen</a:t>
            </a:r>
            <a:endParaRPr lang="de-CH" dirty="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958EC08A-8CA1-E41A-3467-983D03D1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412" y="701883"/>
            <a:ext cx="2474862" cy="2320984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7EE2CD8D-C91E-D72C-05C6-2F90D8F7D655}"/>
              </a:ext>
            </a:extLst>
          </p:cNvPr>
          <p:cNvSpPr txBox="1"/>
          <p:nvPr/>
        </p:nvSpPr>
        <p:spPr>
          <a:xfrm>
            <a:off x="3792433" y="5323973"/>
            <a:ext cx="21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 betr. </a:t>
            </a:r>
            <a:r>
              <a:rPr lang="de-DE" dirty="0" err="1"/>
              <a:t>Liegensch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0171043-0FCA-A459-AE4A-962BD242F611}"/>
              </a:ext>
            </a:extLst>
          </p:cNvPr>
          <p:cNvSpPr txBox="1"/>
          <p:nvPr/>
        </p:nvSpPr>
        <p:spPr>
          <a:xfrm>
            <a:off x="6074386" y="5329289"/>
            <a:ext cx="219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VLL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5129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  <p:bldP spid="25" grpId="0"/>
      <p:bldP spid="5" grpId="0"/>
      <p:bldP spid="8" grpId="0"/>
      <p:bldP spid="26" grpId="0"/>
      <p:bldP spid="27" grpId="0"/>
      <p:bldP spid="28" grpId="0" animBg="1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E31F-A002-905A-D155-555F8C67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5F11FF7C-7D6C-FD24-0626-79E980ECCACB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56B1F9-26C0-E6CF-9988-7186825D7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7812A5-9178-1EF4-E388-4D9BFE49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93339FE1-945F-96CD-42D7-26EFE6ED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078BABF-32BE-A1C0-93C1-B694C0C40874}"/>
              </a:ext>
            </a:extLst>
          </p:cNvPr>
          <p:cNvSpPr txBox="1"/>
          <p:nvPr/>
        </p:nvSpPr>
        <p:spPr>
          <a:xfrm>
            <a:off x="399822" y="739261"/>
            <a:ext cx="60951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/ HA</a:t>
            </a:r>
            <a:endParaRPr lang="de-CH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Lesen Sie S. 32-33</a:t>
            </a:r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</a:p>
          <a:p>
            <a:r>
              <a:rPr lang="de-DE" dirty="0"/>
              <a:t>	Übung 6</a:t>
            </a: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</a:p>
          <a:p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375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1C88-407E-A9F0-7E90-FAF65AD7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11BD5-7826-05C0-74AC-5F136C1E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 fontScale="90000"/>
          </a:bodyPr>
          <a:lstStyle/>
          <a:p>
            <a:pPr algn="ctr"/>
            <a:r>
              <a:rPr lang="de-CH" sz="4400" noProof="0" dirty="0"/>
              <a:t>Lernziele Kap 17</a:t>
            </a:r>
            <a:br>
              <a:rPr lang="de-CH" sz="4400" noProof="0" dirty="0"/>
            </a:br>
            <a:r>
              <a:rPr lang="de-CH" sz="4400" b="1" dirty="0"/>
              <a:t>Prüfung 30.10. (Fr.) mit Kap 16</a:t>
            </a:r>
            <a:endParaRPr lang="de-CH" sz="2200" noProof="0" dirty="0"/>
          </a:p>
        </p:txBody>
      </p:sp>
      <p:sp>
        <p:nvSpPr>
          <p:cNvPr id="4" name="Datumsplatzhalter 1">
            <a:extLst>
              <a:ext uri="{FF2B5EF4-FFF2-40B4-BE49-F238E27FC236}">
                <a16:creationId xmlns:a16="http://schemas.microsoft.com/office/drawing/2014/main" id="{9AF4FBD1-8CB4-E743-A34A-DE8D9F11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B8585E45-8AA6-258F-C5C0-E4448B4F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25405537-B2FF-295B-48E4-EC621002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44E4B0D-DA4E-5ADA-AC53-7112AC30C4A4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C1AA6B-575E-F1BF-F37B-57C4FCE9D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552" y="2275180"/>
            <a:ext cx="4148295" cy="304704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de-DE" b="1" dirty="0"/>
              <a:t>Buchen Immobilien</a:t>
            </a:r>
            <a:endParaRPr lang="de-CH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Kauf &amp; Verkauf (inkl. Gewinn)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Änderung Hypothek &amp; -zins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Abschreibungen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Unterhalt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Investitionen (wertvermehrend)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e-DE" dirty="0"/>
              <a:t>Eigen- &amp; Fremdmiete</a:t>
            </a:r>
          </a:p>
          <a:p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D901BA1-83D0-4337-B6B1-1E9874179CD3}"/>
              </a:ext>
            </a:extLst>
          </p:cNvPr>
          <p:cNvSpPr txBox="1">
            <a:spLocks/>
          </p:cNvSpPr>
          <p:nvPr/>
        </p:nvSpPr>
        <p:spPr>
          <a:xfrm>
            <a:off x="4624395" y="2275180"/>
            <a:ext cx="7230917" cy="27859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Rendite Berechnung &amp; Interpretation Immobilien</a:t>
            </a:r>
            <a:endParaRPr lang="de-CH" dirty="0"/>
          </a:p>
          <a:p>
            <a:r>
              <a:rPr lang="de-DE" dirty="0"/>
              <a:t>Brutto-Rendite</a:t>
            </a:r>
          </a:p>
          <a:p>
            <a:r>
              <a:rPr lang="de-DE" dirty="0"/>
              <a:t>Netto-Rendite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07520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0FBE-38A9-0A57-2F21-F8FC169A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C67D126-6266-D348-599B-D7EFDF31CFF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Rendite berechnen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53F732-423E-3D05-79B1-A763CE9F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E50ECC-BDFC-DB5B-36A0-FDE7269C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8EE8B2FE-6949-28F0-633C-37C9C5AE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2D8C26-5204-05D9-D375-E6A244A5F105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viel habe ich in % mit der Immobilie verdient?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1E3762B-C63A-AEBF-4518-F532E1BC67A0}"/>
                  </a:ext>
                </a:extLst>
              </p:cNvPr>
              <p:cNvSpPr txBox="1"/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Rendite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𝐉𝐚𝐡𝐫𝐞𝐬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ertrag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Einsatz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Kapital</m:t>
                          </m:r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1E3762B-C63A-AEBF-4518-F532E1BC6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C779025E-70D7-AF50-EB9C-7D71023DE132}"/>
              </a:ext>
            </a:extLst>
          </p:cNvPr>
          <p:cNvSpPr txBox="1"/>
          <p:nvPr/>
        </p:nvSpPr>
        <p:spPr>
          <a:xfrm>
            <a:off x="336025" y="1833301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Rendite Immobilien:</a:t>
            </a:r>
            <a:endParaRPr lang="de-CH" b="1" dirty="0">
              <a:latin typeface="+mj-lt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B92A2C-6821-7CD6-7643-25B303F12BA7}"/>
              </a:ext>
            </a:extLst>
          </p:cNvPr>
          <p:cNvSpPr txBox="1"/>
          <p:nvPr/>
        </p:nvSpPr>
        <p:spPr>
          <a:xfrm>
            <a:off x="4523481" y="1111447"/>
            <a:ext cx="3940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Grundformel für Berechnung Rendite</a:t>
            </a:r>
          </a:p>
          <a:p>
            <a:r>
              <a:rPr lang="de-DE" dirty="0"/>
              <a:t>Vgl. Kap 18 Kennzahlen </a:t>
            </a:r>
            <a:endParaRPr lang="de-CH" dirty="0"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6D9DE77-C9EA-FED7-4DD5-CB5004937D55}"/>
              </a:ext>
            </a:extLst>
          </p:cNvPr>
          <p:cNvSpPr txBox="1"/>
          <p:nvPr/>
        </p:nvSpPr>
        <p:spPr>
          <a:xfrm>
            <a:off x="399822" y="2323491"/>
            <a:ext cx="5696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Bruttorendite (für Vergleich mit anderen Immobilien) = </a:t>
            </a:r>
            <a:endParaRPr lang="de-CH" b="1" dirty="0">
              <a:latin typeface="+mj-lt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9486C05-DA7D-90A9-B577-32567AB25828}"/>
              </a:ext>
            </a:extLst>
          </p:cNvPr>
          <p:cNvGrpSpPr/>
          <p:nvPr/>
        </p:nvGrpSpPr>
        <p:grpSpPr>
          <a:xfrm>
            <a:off x="6113729" y="2138825"/>
            <a:ext cx="4859078" cy="696120"/>
            <a:chOff x="3285461" y="2803354"/>
            <a:chExt cx="4859078" cy="696120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F161516-825C-EFE3-A915-440E0D83E5EB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Mietzinserträge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A4ADDCCC-609E-A0C4-3934-3A613379C9D0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CBBEFFE-A4F6-30A5-DF3B-84BE68A2AA2C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Anschaffungswert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E56F5E55-4D99-6F19-F80F-413E7F97A5BF}"/>
              </a:ext>
            </a:extLst>
          </p:cNvPr>
          <p:cNvSpPr txBox="1"/>
          <p:nvPr/>
        </p:nvSpPr>
        <p:spPr>
          <a:xfrm>
            <a:off x="399821" y="5063552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Bruttorendite = </a:t>
            </a:r>
            <a:endParaRPr lang="de-CH" b="1" dirty="0"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2AC65D8-7561-D6CA-BC0C-40B77629E807}"/>
              </a:ext>
            </a:extLst>
          </p:cNvPr>
          <p:cNvGrpSpPr/>
          <p:nvPr/>
        </p:nvGrpSpPr>
        <p:grpSpPr>
          <a:xfrm>
            <a:off x="2083978" y="4878886"/>
            <a:ext cx="3312042" cy="696120"/>
            <a:chOff x="3285461" y="2803354"/>
            <a:chExt cx="4859078" cy="696120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59F4795A-3E46-E215-1689-AF0461DF92BA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200‘000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8B93E3A-1F53-443A-316F-BF732F2517F7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4A976985-6261-748B-68FE-EEF905867716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4‘000‘000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BA2681D-0646-BDD6-7660-13499E286118}"/>
              </a:ext>
            </a:extLst>
          </p:cNvPr>
          <p:cNvSpPr txBox="1"/>
          <p:nvPr/>
        </p:nvSpPr>
        <p:spPr>
          <a:xfrm>
            <a:off x="399821" y="6001388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Nettorendite =</a:t>
            </a:r>
            <a:endParaRPr lang="de-CH" b="1" dirty="0">
              <a:latin typeface="+mj-lt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BE62475-5723-FC83-F203-FEEEE585449F}"/>
              </a:ext>
            </a:extLst>
          </p:cNvPr>
          <p:cNvGrpSpPr/>
          <p:nvPr/>
        </p:nvGrpSpPr>
        <p:grpSpPr>
          <a:xfrm>
            <a:off x="2083978" y="5822092"/>
            <a:ext cx="2262169" cy="696120"/>
            <a:chOff x="3285461" y="2803354"/>
            <a:chExt cx="4859078" cy="696120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3145354-48A6-5041-A88F-85EF774C8B86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200‘000 – 75‘000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6B489604-BCC9-14DA-64E0-F8D5D87B16CA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C2FAD5-4E66-6E4E-05F4-BDEE88ACC56C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 Mio. – 2.6 Mio.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0A8498AB-0C26-CB51-CC68-65D37C86CB02}"/>
              </a:ext>
            </a:extLst>
          </p:cNvPr>
          <p:cNvSpPr txBox="1"/>
          <p:nvPr/>
        </p:nvSpPr>
        <p:spPr>
          <a:xfrm>
            <a:off x="341341" y="3991389"/>
            <a:ext cx="11301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</a:rPr>
              <a:t>Die Kleider AG</a:t>
            </a:r>
            <a:r>
              <a:rPr kumimoji="0" lang="de-DE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nimmt </a:t>
            </a:r>
            <a:r>
              <a:rPr kumimoji="0" lang="de-DE" sz="18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jährlich CHF 175‘000</a:t>
            </a:r>
            <a:r>
              <a:rPr kumimoji="0" lang="de-DE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de-DE" noProof="0" dirty="0">
                <a:solidFill>
                  <a:prstClr val="black"/>
                </a:solidFill>
                <a:latin typeface="Calibri" panose="020F0502020204030204"/>
              </a:rPr>
              <a:t>an Mieten von den vermieteten Wohnungen ein. Der Eigenmietwert mit CHF 25‘000 verbucht.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Die jährlichen Aufwände belaufen sich auf </a:t>
            </a:r>
            <a:r>
              <a:rPr lang="de-DE" dirty="0">
                <a:solidFill>
                  <a:prstClr val="black"/>
                </a:solidFill>
              </a:rPr>
              <a:t>CHF 75‘000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. Gekauft wurde diese Liegenschaft für CHF 4 Mio. Es lastet eine Hypothek von CHF 2.6 Mio. darauf.</a:t>
            </a:r>
            <a:endParaRPr kumimoji="0" lang="de-CH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A77CF26-BD1D-C712-1634-80735C872C99}"/>
              </a:ext>
            </a:extLst>
          </p:cNvPr>
          <p:cNvSpPr txBox="1"/>
          <p:nvPr/>
        </p:nvSpPr>
        <p:spPr>
          <a:xfrm>
            <a:off x="5453943" y="5060867"/>
            <a:ext cx="430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</a:t>
            </a:r>
            <a:r>
              <a:rPr lang="de-DE" b="1" dirty="0"/>
              <a:t>5.00</a:t>
            </a:r>
            <a:r>
              <a:rPr lang="de-DE" sz="1800" b="1" dirty="0"/>
              <a:t>% </a:t>
            </a:r>
            <a:r>
              <a:rPr lang="de-DE" sz="1800" dirty="0"/>
              <a:t>(zum Vgl. mit and. Immobilien)</a:t>
            </a:r>
            <a:endParaRPr lang="de-CH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AA2F8D1-852A-3D13-52C1-C0469DFD3ABC}"/>
              </a:ext>
            </a:extLst>
          </p:cNvPr>
          <p:cNvSpPr txBox="1"/>
          <p:nvPr/>
        </p:nvSpPr>
        <p:spPr>
          <a:xfrm>
            <a:off x="5991996" y="6001388"/>
            <a:ext cx="442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8.93% </a:t>
            </a:r>
            <a:r>
              <a:rPr lang="de-DE" sz="1800" dirty="0"/>
              <a:t>(zum Vgl. mit and. Anlagen)</a:t>
            </a:r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0CF621E-CC87-2F28-9B6B-E221F564E0A4}"/>
              </a:ext>
            </a:extLst>
          </p:cNvPr>
          <p:cNvSpPr txBox="1"/>
          <p:nvPr/>
        </p:nvSpPr>
        <p:spPr>
          <a:xfrm>
            <a:off x="399821" y="3356738"/>
            <a:ext cx="5696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Nettorendite (für Vergleich mit anderen Investitionen) = </a:t>
            </a:r>
            <a:endParaRPr lang="de-CH" b="1" dirty="0">
              <a:latin typeface="+mj-lt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0F8A3B2-5A94-3AB8-AFBC-66BDF6193523}"/>
              </a:ext>
            </a:extLst>
          </p:cNvPr>
          <p:cNvGrpSpPr/>
          <p:nvPr/>
        </p:nvGrpSpPr>
        <p:grpSpPr>
          <a:xfrm>
            <a:off x="5870774" y="3172072"/>
            <a:ext cx="5344986" cy="696120"/>
            <a:chOff x="3285461" y="2803354"/>
            <a:chExt cx="4859078" cy="696120"/>
          </a:xfrm>
        </p:grpSpPr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E290F9F9-0E5F-308E-AB7D-E4C3D13B01AC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Ertrag betr. Liegenschaft – Aufwand betr. Liegenschaft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366CE322-1B58-2E2E-949C-6FC0F66CDFAA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EB419681-37C5-1987-D18D-D20EE5B29D5E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Anschaffungswert - Hypotheken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D272DF8D-FDEA-3160-80BC-B2D021323DF6}"/>
              </a:ext>
            </a:extLst>
          </p:cNvPr>
          <p:cNvGrpSpPr/>
          <p:nvPr/>
        </p:nvGrpSpPr>
        <p:grpSpPr>
          <a:xfrm>
            <a:off x="4401738" y="5822092"/>
            <a:ext cx="1429754" cy="696120"/>
            <a:chOff x="4513380" y="5822092"/>
            <a:chExt cx="1429754" cy="696120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BE26FF76-8CFA-32F3-DC0D-F9B4236E9142}"/>
                </a:ext>
              </a:extLst>
            </p:cNvPr>
            <p:cNvGrpSpPr/>
            <p:nvPr/>
          </p:nvGrpSpPr>
          <p:grpSpPr>
            <a:xfrm>
              <a:off x="4782284" y="5822092"/>
              <a:ext cx="1160850" cy="696120"/>
              <a:chOff x="3285461" y="2803354"/>
              <a:chExt cx="4859078" cy="696120"/>
            </a:xfrm>
          </p:grpSpPr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8B6994BF-191B-D770-D7C8-DC60F973C997}"/>
                  </a:ext>
                </a:extLst>
              </p:cNvPr>
              <p:cNvSpPr txBox="1"/>
              <p:nvPr/>
            </p:nvSpPr>
            <p:spPr>
              <a:xfrm>
                <a:off x="3285461" y="2803354"/>
                <a:ext cx="48590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125‘000</a:t>
                </a:r>
                <a:endParaRPr lang="de-CH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0AE720C6-ABA3-0F4C-5FC1-60CFD3B4D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5461" y="3172686"/>
                <a:ext cx="48590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B85F657-7329-0AB8-CDA7-BE8C75F22ED7}"/>
                  </a:ext>
                </a:extLst>
              </p:cNvPr>
              <p:cNvSpPr txBox="1"/>
              <p:nvPr/>
            </p:nvSpPr>
            <p:spPr>
              <a:xfrm>
                <a:off x="3285461" y="3130142"/>
                <a:ext cx="48590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1‘400‘000</a:t>
                </a:r>
                <a:endParaRPr lang="de-CH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21131E95-877E-E14B-1C07-4E2FECEF7276}"/>
                </a:ext>
              </a:extLst>
            </p:cNvPr>
            <p:cNvSpPr txBox="1"/>
            <p:nvPr/>
          </p:nvSpPr>
          <p:spPr>
            <a:xfrm>
              <a:off x="4513380" y="6001388"/>
              <a:ext cx="3113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800" b="1" dirty="0"/>
                <a:t>= </a:t>
              </a:r>
              <a:endParaRPr lang="de-CH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422638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3" grpId="0"/>
      <p:bldP spid="42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6369-D494-A355-B5C7-EBA980DD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F86C3C8-5AC8-F46E-5B63-92F8B6F4B307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FB0F02-7CDB-C5A7-12BF-13E31E41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993751-2764-A575-E436-020A14EC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7F7C923A-6D1A-D53B-22B7-A2A7CCFD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12F37B6-AC19-F6AC-6D95-286BE71BBCBA}"/>
              </a:ext>
            </a:extLst>
          </p:cNvPr>
          <p:cNvSpPr txBox="1"/>
          <p:nvPr/>
        </p:nvSpPr>
        <p:spPr>
          <a:xfrm>
            <a:off x="399822" y="739261"/>
            <a:ext cx="60951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/ HA</a:t>
            </a:r>
            <a:endParaRPr lang="de-CH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Lesen Sie S. 35-36</a:t>
            </a:r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</a:p>
          <a:p>
            <a:r>
              <a:rPr lang="de-DE" dirty="0"/>
              <a:t>	Übung 7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</a:p>
          <a:p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2763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25B2-F012-4B84-42D7-44DBC0B5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7E7D97C-40F6-8588-F023-C0127425D2B6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17. Immobilien – </a:t>
            </a:r>
            <a:r>
              <a:rPr lang="de-DE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Prüfungsvorbereitung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1F2CE3-9F68-A9E6-6B95-500BC77C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B49CCF-D3C4-EB8C-1F27-F852DE7D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C1BC26CC-362D-4604-BA8B-C05ECA54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247EEC4-AD8F-1E98-AF0A-D96BB153353E}"/>
              </a:ext>
            </a:extLst>
          </p:cNvPr>
          <p:cNvSpPr txBox="1"/>
          <p:nvPr/>
        </p:nvSpPr>
        <p:spPr>
          <a:xfrm>
            <a:off x="399822" y="622009"/>
            <a:ext cx="55713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</a:t>
            </a:r>
          </a:p>
          <a:p>
            <a:endParaRPr lang="en-CH" dirty="0"/>
          </a:p>
          <a:p>
            <a:pPr marL="285750" indent="-285750">
              <a:buFontTx/>
              <a:buChar char="-"/>
            </a:pPr>
            <a:r>
              <a:rPr lang="de-DE" dirty="0"/>
              <a:t>Lesen Sie das gesamte Kapitel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  <a:r>
              <a:rPr lang="de-DE" dirty="0"/>
              <a:t> restliche Übungen</a:t>
            </a:r>
          </a:p>
          <a:p>
            <a:pPr marL="742950" lvl="1" indent="-285750">
              <a:buFontTx/>
              <a:buChar char="-"/>
            </a:pPr>
            <a:endParaRPr lang="en-CH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848B34B-9643-392E-904A-D9E828E00587}"/>
              </a:ext>
            </a:extLst>
          </p:cNvPr>
          <p:cNvSpPr txBox="1"/>
          <p:nvPr/>
        </p:nvSpPr>
        <p:spPr>
          <a:xfrm>
            <a:off x="506147" y="2592738"/>
            <a:ext cx="4119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Lieber im Unterricht</a:t>
            </a:r>
          </a:p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 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9 (Buchen &amp; Rendite)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10 (Buchen &amp; </a:t>
            </a:r>
            <a:r>
              <a:rPr lang="de-DE">
                <a:solidFill>
                  <a:prstClr val="black"/>
                </a:solidFill>
                <a:latin typeface="Google Sans"/>
              </a:rPr>
              <a:t>Rendite)</a:t>
            </a:r>
            <a:endParaRPr lang="de-DE" dirty="0">
              <a:solidFill>
                <a:prstClr val="black"/>
              </a:solidFill>
              <a:latin typeface="Google San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86DE3F4-9E8F-4626-0D06-82FA23769C24}"/>
              </a:ext>
            </a:extLst>
          </p:cNvPr>
          <p:cNvSpPr txBox="1"/>
          <p:nvPr/>
        </p:nvSpPr>
        <p:spPr>
          <a:xfrm>
            <a:off x="4780771" y="2592738"/>
            <a:ext cx="44642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Gut zu Hause</a:t>
            </a:r>
          </a:p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 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2 (Buchen laufend)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4 (Kauf)</a:t>
            </a:r>
          </a:p>
        </p:txBody>
      </p:sp>
    </p:spTree>
    <p:extLst>
      <p:ext uri="{BB962C8B-B14F-4D97-AF65-F5344CB8AC3E}">
        <p14:creationId xmlns:p14="http://schemas.microsoft.com/office/powerpoint/2010/main" val="3223494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0EFFF37A1D7B479AC8EE41A5AB5923" ma:contentTypeVersion="6" ma:contentTypeDescription="Ein neues Dokument erstellen." ma:contentTypeScope="" ma:versionID="ba5ecf91043d94d16770d808302b9b9a">
  <xsd:schema xmlns:xsd="http://www.w3.org/2001/XMLSchema" xmlns:xs="http://www.w3.org/2001/XMLSchema" xmlns:p="http://schemas.microsoft.com/office/2006/metadata/properties" xmlns:ns2="dc1295c1-6a50-4220-8ab4-275fc215885a" xmlns:ns3="5591d1d6-9c63-43f1-ba14-fd8b8c289f56" targetNamespace="http://schemas.microsoft.com/office/2006/metadata/properties" ma:root="true" ma:fieldsID="239f2cb6d869b41f8b3261a6a4bcad9c" ns2:_="" ns3:_="">
    <xsd:import namespace="dc1295c1-6a50-4220-8ab4-275fc215885a"/>
    <xsd:import namespace="5591d1d6-9c63-43f1-ba14-fd8b8c289f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1295c1-6a50-4220-8ab4-275fc21588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1d1d6-9c63-43f1-ba14-fd8b8c289f5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176E58-EF59-407A-B937-4ACEE98E76D0}"/>
</file>

<file path=customXml/itemProps2.xml><?xml version="1.0" encoding="utf-8"?>
<ds:datastoreItem xmlns:ds="http://schemas.openxmlformats.org/officeDocument/2006/customXml" ds:itemID="{8BD08806-397F-4DA4-BF1A-20F527B84832}"/>
</file>

<file path=customXml/itemProps3.xml><?xml version="1.0" encoding="utf-8"?>
<ds:datastoreItem xmlns:ds="http://schemas.openxmlformats.org/officeDocument/2006/customXml" ds:itemID="{F98E8BC7-9B10-4674-97A0-2C63D8356216}"/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0</TotalTime>
  <Words>1224</Words>
  <Application>Microsoft Office PowerPoint</Application>
  <PresentationFormat>Breitbild</PresentationFormat>
  <Paragraphs>316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Gill Sans MT</vt:lpstr>
      <vt:lpstr>Google Sans</vt:lpstr>
      <vt:lpstr>Times New Roman</vt:lpstr>
      <vt:lpstr>Wingdings</vt:lpstr>
      <vt:lpstr>Wingdings 2</vt:lpstr>
      <vt:lpstr>Dividende</vt:lpstr>
      <vt:lpstr> Kapitel 17  Immobilien</vt:lpstr>
      <vt:lpstr>Lernziele Kap 17 Prüfung 30.10. (Fr.) mit Kap 16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Lernziele Kap 17 Prüfung 30.10. (Fr.) mit Kap 16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Kapitel: Grundlagen Marketing</dc:title>
  <dc:creator>Lyner,  Sara (BZZ)</dc:creator>
  <cp:lastModifiedBy>Lyner,  Sara (BZZ)</cp:lastModifiedBy>
  <cp:revision>192</cp:revision>
  <cp:lastPrinted>2023-09-28T06:49:36Z</cp:lastPrinted>
  <dcterms:created xsi:type="dcterms:W3CDTF">2019-11-07T10:43:03Z</dcterms:created>
  <dcterms:modified xsi:type="dcterms:W3CDTF">2026-09-07T10:54:30Z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0x010100FC0EFFF37A1D7B479AC8EE41A5AB5923</vt:lpwstr>
  </property>
</Properties>
</file>